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Open Sans" panose="020B0606030504020204" pitchFamily="34" charset="0"/>
      <p:regular r:id="rId14"/>
      <p:bold r:id="rId15"/>
      <p:italic r:id="rId16"/>
      <p:boldItalic r:id="rId17"/>
    </p:embeddedFont>
    <p:embeddedFont>
      <p:font typeface="Poppins" panose="00000500000000000000" pitchFamily="2" charset="0"/>
      <p:regular r:id="rId18"/>
      <p:bold r:id="rId19"/>
      <p:italic r:id="rId20"/>
      <p:boldItalic r:id="rId2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83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7569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0053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66522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3967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1418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9474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5791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6429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0393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2104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4845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9712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microsoft-my.sharepoint.com/personal/sagarbathe_microsoft_com/Documents/Microsoft%20Copilot%20Chat%20Files/README.md" TargetMode="Externa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microsoft-my.sharepoint.com/personal/sagarbathe_microsoft_com/Documents/Microsoft%20Copilot%20Chat%20Files/README.md" TargetMode="External"/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13" Type="http://schemas.openxmlformats.org/officeDocument/2006/relationships/hyperlink" Target="https://microsoft-my.sharepoint.com/personal/sagarbathe_microsoft_com/Documents/Microsoft%20Copilot%20Chat%20Files/README.md" TargetMode="External"/><Relationship Id="rId3" Type="http://schemas.openxmlformats.org/officeDocument/2006/relationships/image" Target="../media/image14.svg"/><Relationship Id="rId7" Type="http://schemas.openxmlformats.org/officeDocument/2006/relationships/image" Target="../media/image18.svg"/><Relationship Id="rId12" Type="http://schemas.openxmlformats.org/officeDocument/2006/relationships/image" Target="../media/image23.svg"/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svg"/><Relationship Id="rId11" Type="http://schemas.openxmlformats.org/officeDocument/2006/relationships/image" Target="../media/image22.svg"/><Relationship Id="rId5" Type="http://schemas.openxmlformats.org/officeDocument/2006/relationships/image" Target="../media/image16.svg"/><Relationship Id="rId10" Type="http://schemas.openxmlformats.org/officeDocument/2006/relationships/image" Target="../media/image21.png"/><Relationship Id="rId4" Type="http://schemas.openxmlformats.org/officeDocument/2006/relationships/image" Target="../media/image15.svg"/><Relationship Id="rId9" Type="http://schemas.openxmlformats.org/officeDocument/2006/relationships/image" Target="../media/image20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7" Type="http://schemas.openxmlformats.org/officeDocument/2006/relationships/hyperlink" Target="https://microsoft-my.sharepoint.com/personal/sagarbathe_microsoft_com/Documents/Microsoft%20Copilot%20Chat%20Files/README.md" TargetMode="External"/><Relationship Id="rId2" Type="http://schemas.openxmlformats.org/officeDocument/2006/relationships/image" Target="../media/image24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svg"/><Relationship Id="rId5" Type="http://schemas.openxmlformats.org/officeDocument/2006/relationships/image" Target="../media/image27.svg"/><Relationship Id="rId4" Type="http://schemas.openxmlformats.org/officeDocument/2006/relationships/image" Target="../media/image26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microsoft-my.sharepoint.com/personal/sagarbathe_microsoft_com/Documents/Microsoft%20Copilot%20Chat%20Files/README.md" TargetMode="External"/><Relationship Id="rId3" Type="http://schemas.openxmlformats.org/officeDocument/2006/relationships/image" Target="../media/image30.svg"/><Relationship Id="rId7" Type="http://schemas.openxmlformats.org/officeDocument/2006/relationships/image" Target="../media/image34.svg"/><Relationship Id="rId2" Type="http://schemas.openxmlformats.org/officeDocument/2006/relationships/image" Target="../media/image29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svg"/><Relationship Id="rId5" Type="http://schemas.openxmlformats.org/officeDocument/2006/relationships/image" Target="../media/image32.svg"/><Relationship Id="rId4" Type="http://schemas.openxmlformats.org/officeDocument/2006/relationships/image" Target="../media/image31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sv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microsoft-my.sharepoint.com/personal/sagarbathe_microsoft_com/Documents/Microsoft%20Copilot%20Chat%20Files/README.md" TargetMode="External"/><Relationship Id="rId4" Type="http://schemas.openxmlformats.org/officeDocument/2006/relationships/image" Target="../media/image37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svg"/><Relationship Id="rId13" Type="http://schemas.openxmlformats.org/officeDocument/2006/relationships/hyperlink" Target="https://microsoft-my.sharepoint.com/personal/sagarbathe_microsoft_com/Documents/Microsoft%20Copilot%20Chat%20Files/README.md" TargetMode="External"/><Relationship Id="rId3" Type="http://schemas.openxmlformats.org/officeDocument/2006/relationships/image" Target="../media/image39.svg"/><Relationship Id="rId7" Type="http://schemas.openxmlformats.org/officeDocument/2006/relationships/image" Target="../media/image43.svg"/><Relationship Id="rId12" Type="http://schemas.openxmlformats.org/officeDocument/2006/relationships/image" Target="../media/image48.svg"/><Relationship Id="rId2" Type="http://schemas.openxmlformats.org/officeDocument/2006/relationships/image" Target="../media/image38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svg"/><Relationship Id="rId11" Type="http://schemas.openxmlformats.org/officeDocument/2006/relationships/image" Target="../media/image47.svg"/><Relationship Id="rId5" Type="http://schemas.openxmlformats.org/officeDocument/2006/relationships/image" Target="../media/image41.svg"/><Relationship Id="rId10" Type="http://schemas.openxmlformats.org/officeDocument/2006/relationships/image" Target="../media/image46.svg"/><Relationship Id="rId4" Type="http://schemas.openxmlformats.org/officeDocument/2006/relationships/image" Target="../media/image40.svg"/><Relationship Id="rId9" Type="http://schemas.openxmlformats.org/officeDocument/2006/relationships/image" Target="../media/image45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svg"/><Relationship Id="rId2" Type="http://schemas.openxmlformats.org/officeDocument/2006/relationships/image" Target="../media/image49.sv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microsoft-my.sharepoint.com/personal/sagarbathe_microsoft_com/Documents/Microsoft%20Copilot%20Chat%20Files/README.md" TargetMode="External"/><Relationship Id="rId4" Type="http://schemas.openxmlformats.org/officeDocument/2006/relationships/image" Target="../media/image51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svg"/><Relationship Id="rId3" Type="http://schemas.openxmlformats.org/officeDocument/2006/relationships/hyperlink" Target="https://microsoft-my.sharepoint.com/personal/sagarbathe_microsoft_com/Documents/Microsoft%20Copilot%20Chat%20Files/README.md" TargetMode="External"/><Relationship Id="rId7" Type="http://schemas.openxmlformats.org/officeDocument/2006/relationships/image" Target="../media/image56.sv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.svg"/><Relationship Id="rId5" Type="http://schemas.openxmlformats.org/officeDocument/2006/relationships/image" Target="../media/image54.svg"/><Relationship Id="rId4" Type="http://schemas.openxmlformats.org/officeDocument/2006/relationships/image" Target="../media/image53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svg"/><Relationship Id="rId3" Type="http://schemas.openxmlformats.org/officeDocument/2006/relationships/image" Target="../media/image59.svg"/><Relationship Id="rId7" Type="http://schemas.openxmlformats.org/officeDocument/2006/relationships/image" Target="../media/image63.svg"/><Relationship Id="rId2" Type="http://schemas.openxmlformats.org/officeDocument/2006/relationships/image" Target="../media/image58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2.svg"/><Relationship Id="rId5" Type="http://schemas.openxmlformats.org/officeDocument/2006/relationships/image" Target="../media/image61.svg"/><Relationship Id="rId4" Type="http://schemas.openxmlformats.org/officeDocument/2006/relationships/image" Target="../media/image60.svg"/><Relationship Id="rId9" Type="http://schemas.openxmlformats.org/officeDocument/2006/relationships/image" Target="../media/image65.sv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agarbathe/UBIPricing_solution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3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62000" y="1051768"/>
            <a:ext cx="762000" cy="381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61980" y="1204138"/>
            <a:ext cx="7915374" cy="175850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378" b="1" i="0" dirty="0">
                <a:solidFill>
                  <a:srgbClr val="B8860B"/>
                </a:solidFill>
                <a:latin typeface="Poppins"/>
              </a:rPr>
              <a:t>Usage-Based Insurance Pricing Intelligence App on Microsoft Fabric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1980" y="3118020"/>
            <a:ext cx="7246855" cy="2278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81" b="0" i="0" dirty="0">
                <a:solidFill>
                  <a:srgbClr val="8A8580"/>
                </a:solidFill>
                <a:latin typeface="Open Sans"/>
              </a:rPr>
              <a:t>An End-to-End Solution — From Telematics Ingestion to AI-Powered Insights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80" y="6100014"/>
            <a:ext cx="1296111" cy="14287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97" b="0" i="0">
                <a:solidFill>
                  <a:srgbClr val="8A8580"/>
                </a:solidFill>
                <a:latin typeface="Open Sans"/>
              </a:rPr>
              <a:t>Sagar Bathe |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1866751"/>
            <a:ext cx="11277600" cy="1109216"/>
          </a:xfrm>
          <a:prstGeom prst="roundRect">
            <a:avLst>
              <a:gd name="adj" fmla="val 12022"/>
            </a:avLst>
          </a:prstGeom>
          <a:gradFill rotWithShape="1">
            <a:gsLst>
              <a:gs pos="0">
                <a:srgbClr val="FFF3DC"/>
              </a:gs>
              <a:gs pos="100000">
                <a:srgbClr val="FFEDC8"/>
              </a:gs>
            </a:gsLst>
            <a:lin ang="108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38200" y="2154584"/>
            <a:ext cx="533400" cy="533400"/>
          </a:xfrm>
          <a:prstGeom prst="ellipse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2985" y="2299337"/>
            <a:ext cx="243774" cy="24377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57200" y="3250257"/>
            <a:ext cx="3606849" cy="3072854"/>
          </a:xfrm>
          <a:prstGeom prst="roundRect">
            <a:avLst>
              <a:gd name="adj" fmla="val 4339"/>
            </a:avLst>
          </a:prstGeom>
          <a:solidFill>
            <a:srgbClr val="F5E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0453" y="3507493"/>
            <a:ext cx="228594" cy="20001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292649" y="3250257"/>
            <a:ext cx="3606849" cy="3072854"/>
          </a:xfrm>
          <a:prstGeom prst="roundRect">
            <a:avLst>
              <a:gd name="adj" fmla="val 4339"/>
            </a:avLst>
          </a:prstGeom>
          <a:solidFill>
            <a:srgbClr val="F5E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06852" y="3493200"/>
            <a:ext cx="284189" cy="2286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128099" y="3250257"/>
            <a:ext cx="3606849" cy="3072854"/>
          </a:xfrm>
          <a:prstGeom prst="roundRect">
            <a:avLst>
              <a:gd name="adj" fmla="val 4339"/>
            </a:avLst>
          </a:prstGeom>
          <a:solidFill>
            <a:srgbClr val="F5E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41161" y="3507493"/>
            <a:ext cx="228594" cy="20001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188" y="333366"/>
            <a:ext cx="4683057" cy="6381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167" b="1" i="0">
                <a:solidFill>
                  <a:srgbClr val="B8860B"/>
                </a:solidFill>
                <a:latin typeface="Poppins"/>
              </a:rPr>
              <a:t>The Pricing Problem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546" y="974359"/>
            <a:ext cx="9875540" cy="4383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24" b="0" i="0" dirty="0">
                <a:solidFill>
                  <a:srgbClr val="5A5651"/>
                </a:solidFill>
                <a:latin typeface="Open Sans"/>
              </a:rPr>
              <a:t>Insurers struggle with a fundamental question — are premiums keeping pace with actual driver risk? Traditional pricing ignores real driving behavior, leading to mispriced policies and missed loss ratio targets</a:t>
            </a:r>
            <a:endParaRPr sz="1139" b="0" i="0" dirty="0">
              <a:solidFill>
                <a:srgbClr val="B8860B"/>
              </a:solidFill>
              <a:latin typeface="Open Sans"/>
              <a:hlinkClick r:id="rId6" tooltip="README.md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600159" y="2121938"/>
            <a:ext cx="1322304" cy="21906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5" b="1" i="0">
                <a:solidFill>
                  <a:srgbClr val="A37400"/>
                </a:solidFill>
                <a:latin typeface="Poppins"/>
              </a:rPr>
              <a:t>Core Question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159" y="2365712"/>
            <a:ext cx="8418847" cy="3428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88" b="1" i="1">
                <a:solidFill>
                  <a:srgbClr val="B8860B"/>
                </a:solidFill>
                <a:latin typeface="Poppins"/>
              </a:rPr>
              <a:t>"Are we pricing risk correctly, and will we hit our target loss ratios?"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606" y="3469245"/>
            <a:ext cx="2416164" cy="27621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71" b="1" i="0">
                <a:solidFill>
                  <a:srgbClr val="A37400"/>
                </a:solidFill>
                <a:latin typeface="Poppins"/>
              </a:rPr>
              <a:t>Behavior-Based Pricing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0453" y="3842794"/>
            <a:ext cx="3001044" cy="77123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3" b="0" i="0" dirty="0">
                <a:solidFill>
                  <a:srgbClr val="5A5651"/>
                </a:solidFill>
                <a:latin typeface="Open Sans"/>
              </a:rPr>
              <a:t>U</a:t>
            </a:r>
            <a:r>
              <a:rPr lang="en-US" sz="1253" b="0" i="0" dirty="0">
                <a:solidFill>
                  <a:srgbClr val="5A5651"/>
                </a:solidFill>
                <a:latin typeface="Open Sans"/>
              </a:rPr>
              <a:t>sage-based Insurance pricing</a:t>
            </a:r>
            <a:r>
              <a:rPr sz="1253" b="0" i="0" dirty="0">
                <a:solidFill>
                  <a:srgbClr val="5A5651"/>
                </a:solidFill>
                <a:latin typeface="Open Sans"/>
              </a:rPr>
              <a:t> adjusts premiums based on actual driver behavior — speeding, hard braking, mileage, and time of day.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8108" y="3469245"/>
            <a:ext cx="1589742" cy="27621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71" b="1" i="0">
                <a:solidFill>
                  <a:srgbClr val="A37400"/>
                </a:solidFill>
                <a:latin typeface="Poppins"/>
              </a:rPr>
              <a:t>The Pricing Gap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5807" y="3842794"/>
            <a:ext cx="3172192" cy="95723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3" b="0" i="0">
                <a:solidFill>
                  <a:srgbClr val="5A5651"/>
                </a:solidFill>
                <a:latin typeface="Open Sans"/>
              </a:rPr>
              <a:t>Traditional flat-rate premiums vs. behavior-driven risk creates underpriced high-risk policies and overpriced safe drivers.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76313" y="3469245"/>
            <a:ext cx="1661773" cy="27621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71" b="1" i="0">
                <a:solidFill>
                  <a:srgbClr val="A37400"/>
                </a:solidFill>
                <a:latin typeface="Poppins"/>
              </a:rPr>
              <a:t>The Opportunity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41161" y="3842794"/>
            <a:ext cx="2996430" cy="71435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3" b="0" i="0">
                <a:solidFill>
                  <a:srgbClr val="5A5651"/>
                </a:solidFill>
                <a:latin typeface="Open Sans"/>
              </a:rPr>
              <a:t>Unify telematics and insurance data to calculate driver risk scores and recommend usage-based premiums.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96228" y="6404806"/>
            <a:ext cx="338277" cy="14287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797" b="0" i="0">
                <a:solidFill>
                  <a:srgbClr val="8A8580"/>
                </a:solidFill>
                <a:latin typeface="Open Sans"/>
              </a:rPr>
              <a:t>02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1866751"/>
            <a:ext cx="1981199" cy="4395341"/>
          </a:xfrm>
          <a:prstGeom prst="roundRect">
            <a:avLst>
              <a:gd name="adj" fmla="val 6730"/>
            </a:avLst>
          </a:prstGeom>
          <a:solidFill>
            <a:srgbClr val="F5E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200150" y="2080021"/>
            <a:ext cx="495299" cy="495299"/>
          </a:xfrm>
          <a:prstGeom prst="ellipse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54450" y="2220980"/>
            <a:ext cx="186476" cy="2131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78298" y="3990984"/>
            <a:ext cx="83715" cy="14652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2781300" y="1866751"/>
            <a:ext cx="1981199" cy="4395341"/>
          </a:xfrm>
          <a:prstGeom prst="roundRect">
            <a:avLst>
              <a:gd name="adj" fmla="val 6730"/>
            </a:avLst>
          </a:prstGeom>
          <a:solidFill>
            <a:srgbClr val="F5E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3524250" y="2080021"/>
            <a:ext cx="495299" cy="495299"/>
          </a:xfrm>
          <a:prstGeom prst="ellipse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39985" y="2224253"/>
            <a:ext cx="261686" cy="208377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02340" y="3990984"/>
            <a:ext cx="83715" cy="14652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105400" y="1866751"/>
            <a:ext cx="1981199" cy="4395341"/>
          </a:xfrm>
          <a:prstGeom prst="roundRect">
            <a:avLst>
              <a:gd name="adj" fmla="val 6730"/>
            </a:avLst>
          </a:prstGeom>
          <a:solidFill>
            <a:srgbClr val="F5E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5848350" y="2080021"/>
            <a:ext cx="495299" cy="495299"/>
          </a:xfrm>
          <a:prstGeom prst="ellipse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89222" y="2220925"/>
            <a:ext cx="213249" cy="213227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26382" y="3990984"/>
            <a:ext cx="83715" cy="146522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7429500" y="1866751"/>
            <a:ext cx="1981199" cy="4395341"/>
          </a:xfrm>
          <a:prstGeom prst="roundRect">
            <a:avLst>
              <a:gd name="adj" fmla="val 6730"/>
            </a:avLst>
          </a:prstGeom>
          <a:solidFill>
            <a:srgbClr val="F5E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172450" y="2080021"/>
            <a:ext cx="495299" cy="495299"/>
          </a:xfrm>
          <a:prstGeom prst="ellipse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99936" y="2234242"/>
            <a:ext cx="239904" cy="186592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50424" y="3990984"/>
            <a:ext cx="83715" cy="146522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9753600" y="1866751"/>
            <a:ext cx="1981199" cy="4395341"/>
          </a:xfrm>
          <a:prstGeom prst="roundRect">
            <a:avLst>
              <a:gd name="adj" fmla="val 6730"/>
            </a:avLst>
          </a:prstGeom>
          <a:solidFill>
            <a:srgbClr val="F5E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496550" y="2080021"/>
            <a:ext cx="495299" cy="495299"/>
          </a:xfrm>
          <a:prstGeom prst="ellipse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637224" y="2234235"/>
            <a:ext cx="213265" cy="18660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57188" y="333366"/>
            <a:ext cx="4692731" cy="6381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167" b="1" i="0">
                <a:solidFill>
                  <a:srgbClr val="B8860B"/>
                </a:solidFill>
                <a:latin typeface="Poppins"/>
              </a:rPr>
              <a:t>Solution at a Glance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188" y="1030460"/>
            <a:ext cx="8699083" cy="4383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24" b="0" i="0" dirty="0">
                <a:solidFill>
                  <a:srgbClr val="5A5651"/>
                </a:solidFill>
                <a:latin typeface="Open Sans"/>
              </a:rPr>
              <a:t>The Fabric accelerator delivers an end-to-end U</a:t>
            </a:r>
            <a:r>
              <a:rPr lang="en-US" sz="1424" b="0" i="0" dirty="0">
                <a:solidFill>
                  <a:srgbClr val="5A5651"/>
                </a:solidFill>
                <a:latin typeface="Open Sans"/>
              </a:rPr>
              <a:t>sage-based </a:t>
            </a:r>
            <a:r>
              <a:rPr sz="1424" b="0" i="0" dirty="0">
                <a:solidFill>
                  <a:srgbClr val="5A5651"/>
                </a:solidFill>
                <a:latin typeface="Open Sans"/>
              </a:rPr>
              <a:t>pricing pipeline — from raw telematics ingestion through risk scoring to interactive analytics and AI-driven Q&amp;A — all within Microsoft Fabric</a:t>
            </a:r>
            <a:endParaRPr sz="1139" b="0" i="0" dirty="0">
              <a:solidFill>
                <a:srgbClr val="B8860B"/>
              </a:solidFill>
              <a:latin typeface="Open Sans"/>
              <a:hlinkClick r:id="rId8" tooltip="README.md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263965" y="2697144"/>
            <a:ext cx="367596" cy="14287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63" b="1" i="0">
                <a:solidFill>
                  <a:srgbClr val="A37400"/>
                </a:solidFill>
                <a:latin typeface="Open Sans"/>
              </a:rPr>
              <a:t>Step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1260" y="2876180"/>
            <a:ext cx="1493006" cy="27621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71" b="1" i="0">
                <a:solidFill>
                  <a:srgbClr val="B8860B"/>
                </a:solidFill>
                <a:latin typeface="Poppins"/>
              </a:rPr>
              <a:t>Data Ingestion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4328" y="3194515"/>
            <a:ext cx="1446722" cy="803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39" b="0" i="0" dirty="0">
                <a:solidFill>
                  <a:srgbClr val="5A5651"/>
                </a:solidFill>
                <a:latin typeface="Open Sans"/>
              </a:rPr>
              <a:t>Telematics to KQL table; policy, vehicle, and claims data into Lakehouse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88007" y="2697144"/>
            <a:ext cx="367596" cy="14287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63" b="1" i="0">
                <a:solidFill>
                  <a:srgbClr val="A37400"/>
                </a:solidFill>
                <a:latin typeface="Open Sans"/>
              </a:rPr>
              <a:t>Step 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60583" y="2876180"/>
            <a:ext cx="1222443" cy="5336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71" b="1" i="0">
                <a:solidFill>
                  <a:srgbClr val="B8860B"/>
                </a:solidFill>
                <a:latin typeface="Poppins"/>
              </a:rPr>
              <a:t>Feature Engineering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92709" y="3451982"/>
            <a:ext cx="1558191" cy="17530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39" b="0" i="0" dirty="0">
                <a:solidFill>
                  <a:srgbClr val="5A5651"/>
                </a:solidFill>
                <a:latin typeface="Open Sans"/>
              </a:rPr>
              <a:t>Spark Notebooks aggregate trip metrics to driver level; generate risk scores and premium adjustments</a:t>
            </a:r>
            <a:br>
              <a:rPr lang="en-US" sz="1139" b="0" i="0" dirty="0">
                <a:solidFill>
                  <a:srgbClr val="5A5651"/>
                </a:solidFill>
                <a:latin typeface="Open Sans"/>
              </a:rPr>
            </a:br>
            <a:br>
              <a:rPr lang="en-US" sz="1139" b="0" i="0" dirty="0">
                <a:solidFill>
                  <a:srgbClr val="5A5651"/>
                </a:solidFill>
                <a:latin typeface="Open Sans"/>
              </a:rPr>
            </a:br>
            <a:r>
              <a:rPr lang="en-US" sz="1139" b="0" i="0" dirty="0">
                <a:solidFill>
                  <a:srgbClr val="5A5651"/>
                </a:solidFill>
                <a:latin typeface="Open Sans"/>
              </a:rPr>
              <a:t>In production systems, this would be done using ML models</a:t>
            </a:r>
            <a:endParaRPr sz="1139" b="0" i="0" dirty="0">
              <a:solidFill>
                <a:srgbClr val="5A5651"/>
              </a:solidFill>
              <a:latin typeface="Open San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912049" y="2697144"/>
            <a:ext cx="367596" cy="14287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63" b="1" i="0">
                <a:solidFill>
                  <a:srgbClr val="A37400"/>
                </a:solidFill>
                <a:latin typeface="Open Sans"/>
              </a:rPr>
              <a:t>Step 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91600" y="2876180"/>
            <a:ext cx="1608494" cy="27621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71" b="1" i="0">
                <a:solidFill>
                  <a:srgbClr val="B8860B"/>
                </a:solidFill>
                <a:latin typeface="Poppins"/>
              </a:rPr>
              <a:t>Gold Data Layer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00539" y="3194515"/>
            <a:ext cx="1390615" cy="100188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39" b="0" i="0">
                <a:solidFill>
                  <a:srgbClr val="5A5651"/>
                </a:solidFill>
                <a:latin typeface="Open Sans"/>
              </a:rPr>
              <a:t>7 Gold Delta tables with risk scores, premiums, and loss ratios; Power BI Semantic Model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36091" y="2697144"/>
            <a:ext cx="367596" cy="14287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63" b="1" i="0">
                <a:solidFill>
                  <a:srgbClr val="A37400"/>
                </a:solidFill>
                <a:latin typeface="Open Sans"/>
              </a:rPr>
              <a:t>Step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49753" y="2876180"/>
            <a:ext cx="940123" cy="5336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71" b="1" i="0">
                <a:solidFill>
                  <a:srgbClr val="B8860B"/>
                </a:solidFill>
                <a:latin typeface="Poppins"/>
              </a:rPr>
              <a:t>Fabric Ontology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71302" y="3451982"/>
            <a:ext cx="1497173" cy="87652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39" b="0" i="0" dirty="0">
                <a:solidFill>
                  <a:srgbClr val="5A5651"/>
                </a:solidFill>
                <a:latin typeface="Open Sans"/>
              </a:rPr>
              <a:t>Unified U</a:t>
            </a:r>
            <a:r>
              <a:rPr lang="en-US" sz="1139" b="0" i="0" dirty="0">
                <a:solidFill>
                  <a:srgbClr val="5A5651"/>
                </a:solidFill>
                <a:latin typeface="Open Sans"/>
              </a:rPr>
              <a:t>sage-based Pricing </a:t>
            </a:r>
            <a:r>
              <a:rPr sz="1139" b="0" i="0" dirty="0">
                <a:solidFill>
                  <a:srgbClr val="5A5651"/>
                </a:solidFill>
                <a:latin typeface="Open Sans"/>
              </a:rPr>
              <a:t>domain model enabling natural language querying via </a:t>
            </a:r>
            <a:r>
              <a:rPr sz="1139" b="0" i="0" dirty="0" err="1">
                <a:solidFill>
                  <a:srgbClr val="5A5651"/>
                </a:solidFill>
                <a:latin typeface="Open Sans"/>
              </a:rPr>
              <a:t>FabricIQ</a:t>
            </a:r>
            <a:endParaRPr sz="1139" b="0" i="0" dirty="0">
              <a:solidFill>
                <a:srgbClr val="5A5651"/>
              </a:solidFill>
              <a:latin typeface="Open San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0560133" y="2697144"/>
            <a:ext cx="367596" cy="14287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63" b="1" i="0">
                <a:solidFill>
                  <a:srgbClr val="A37400"/>
                </a:solidFill>
                <a:latin typeface="Open Sans"/>
              </a:rPr>
              <a:t>Step 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60390" y="2876180"/>
            <a:ext cx="1166932" cy="5336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71" b="1" i="0">
                <a:solidFill>
                  <a:srgbClr val="B8860B"/>
                </a:solidFill>
                <a:latin typeface="Poppins"/>
              </a:rPr>
              <a:t>Analytics &amp; Insights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90284" y="3451982"/>
            <a:ext cx="1507293" cy="105182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39" b="0" i="0" dirty="0">
                <a:solidFill>
                  <a:srgbClr val="5A5651"/>
                </a:solidFill>
                <a:latin typeface="Open Sans"/>
              </a:rPr>
              <a:t>Power BI dashboards and </a:t>
            </a:r>
            <a:r>
              <a:rPr lang="en-US" sz="1139" b="0" i="0" dirty="0">
                <a:solidFill>
                  <a:srgbClr val="5A5651"/>
                </a:solidFill>
                <a:latin typeface="Open Sans"/>
              </a:rPr>
              <a:t>Fabric</a:t>
            </a:r>
            <a:r>
              <a:rPr sz="1139" b="0" i="0" dirty="0">
                <a:solidFill>
                  <a:srgbClr val="5A5651"/>
                </a:solidFill>
                <a:latin typeface="Open Sans"/>
              </a:rPr>
              <a:t> Data Agents for </a:t>
            </a:r>
            <a:r>
              <a:rPr lang="en-US" sz="1139" dirty="0">
                <a:solidFill>
                  <a:srgbClr val="5A5651"/>
                </a:solidFill>
                <a:latin typeface="Open Sans"/>
              </a:rPr>
              <a:t>NL </a:t>
            </a:r>
            <a:r>
              <a:rPr sz="1139" b="0" i="0" dirty="0">
                <a:solidFill>
                  <a:srgbClr val="5A5651"/>
                </a:solidFill>
                <a:latin typeface="Open Sans"/>
              </a:rPr>
              <a:t>Q&amp;A</a:t>
            </a:r>
            <a:r>
              <a:rPr lang="en-US" sz="1139" b="0" i="0" dirty="0">
                <a:solidFill>
                  <a:srgbClr val="5A5651"/>
                </a:solidFill>
                <a:latin typeface="Open Sans"/>
              </a:rPr>
              <a:t> based on Semantic Model and Fabric Ontology</a:t>
            </a:r>
            <a:endParaRPr sz="1139" b="0" i="0" dirty="0">
              <a:solidFill>
                <a:srgbClr val="5A5651"/>
              </a:solidFill>
              <a:latin typeface="Open Sans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0746014" y="6404806"/>
            <a:ext cx="988491" cy="14287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97" b="0" i="0">
                <a:solidFill>
                  <a:srgbClr val="8A8580"/>
                </a:solidFill>
                <a:latin typeface="Open Sans"/>
              </a:rPr>
              <a:t>Solution at a Glance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1404937"/>
            <a:ext cx="1200150" cy="495895"/>
          </a:xfrm>
          <a:prstGeom prst="roundRect">
            <a:avLst>
              <a:gd name="adj" fmla="val 19207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748730" y="1404937"/>
            <a:ext cx="4954934" cy="495895"/>
          </a:xfrm>
          <a:prstGeom prst="roundRect">
            <a:avLst>
              <a:gd name="adj" fmla="val 19207"/>
            </a:avLst>
          </a:prstGeom>
          <a:solidFill>
            <a:srgbClr val="F5E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99157" y="1546136"/>
            <a:ext cx="186607" cy="213265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779865" y="1404937"/>
            <a:ext cx="4954934" cy="495895"/>
          </a:xfrm>
          <a:prstGeom prst="roundRect">
            <a:avLst>
              <a:gd name="adj" fmla="val 19207"/>
            </a:avLst>
          </a:prstGeom>
          <a:solidFill>
            <a:srgbClr val="F5E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43478" y="1546132"/>
            <a:ext cx="159983" cy="2132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68344" y="1962696"/>
            <a:ext cx="102728" cy="11979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57200" y="2144464"/>
            <a:ext cx="1200150" cy="495895"/>
          </a:xfrm>
          <a:prstGeom prst="roundRect">
            <a:avLst>
              <a:gd name="adj" fmla="val 19207"/>
            </a:avLst>
          </a:prstGeom>
          <a:solidFill>
            <a:srgbClr val="3B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748730" y="2144464"/>
            <a:ext cx="9986069" cy="495895"/>
          </a:xfrm>
          <a:prstGeom prst="roundRect">
            <a:avLst>
              <a:gd name="adj" fmla="val 19207"/>
            </a:avLst>
          </a:prstGeom>
          <a:solidFill>
            <a:srgbClr val="F5E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872100" y="2288991"/>
            <a:ext cx="261686" cy="208377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68344" y="2702204"/>
            <a:ext cx="102728" cy="11979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457200" y="2883991"/>
            <a:ext cx="1200150" cy="532209"/>
          </a:xfrm>
          <a:prstGeom prst="roundRect">
            <a:avLst>
              <a:gd name="adj" fmla="val 17897"/>
            </a:avLst>
          </a:prstGeom>
          <a:solidFill>
            <a:srgbClr val="C47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748730" y="2883991"/>
            <a:ext cx="9986069" cy="532209"/>
          </a:xfrm>
          <a:prstGeom prst="roundRect">
            <a:avLst>
              <a:gd name="adj" fmla="val 17897"/>
            </a:avLst>
          </a:prstGeom>
          <a:solidFill>
            <a:srgbClr val="F5E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885828" y="3043320"/>
            <a:ext cx="213265" cy="213244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68344" y="3478026"/>
            <a:ext cx="102728" cy="119796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457200" y="3659832"/>
            <a:ext cx="1200150" cy="495895"/>
          </a:xfrm>
          <a:prstGeom prst="roundRect">
            <a:avLst>
              <a:gd name="adj" fmla="val 19207"/>
            </a:avLst>
          </a:prstGeom>
          <a:solidFill>
            <a:srgbClr val="4A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748730" y="3659832"/>
            <a:ext cx="3277939" cy="495895"/>
          </a:xfrm>
          <a:prstGeom prst="roundRect">
            <a:avLst>
              <a:gd name="adj" fmla="val 19207"/>
            </a:avLst>
          </a:prstGeom>
          <a:solidFill>
            <a:srgbClr val="F5E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885828" y="3800975"/>
            <a:ext cx="225732" cy="213265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5102869" y="3659832"/>
            <a:ext cx="3277939" cy="495895"/>
          </a:xfrm>
          <a:prstGeom prst="roundRect">
            <a:avLst>
              <a:gd name="adj" fmla="val 19207"/>
            </a:avLst>
          </a:prstGeom>
          <a:solidFill>
            <a:srgbClr val="F5E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224624" y="3800990"/>
            <a:ext cx="266535" cy="213235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8457009" y="3659832"/>
            <a:ext cx="3277939" cy="495895"/>
          </a:xfrm>
          <a:prstGeom prst="roundRect">
            <a:avLst>
              <a:gd name="adj" fmla="val 19207"/>
            </a:avLst>
          </a:prstGeom>
          <a:solidFill>
            <a:srgbClr val="F5E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593939" y="3800975"/>
            <a:ext cx="213265" cy="21326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188" y="4208902"/>
            <a:ext cx="1200119" cy="121738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558822" y="4216542"/>
            <a:ext cx="91414" cy="106601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95889" y="4216542"/>
            <a:ext cx="91414" cy="106601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832956" y="4216542"/>
            <a:ext cx="91414" cy="106601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457200" y="4384178"/>
            <a:ext cx="1200150" cy="495895"/>
          </a:xfrm>
          <a:prstGeom prst="roundRect">
            <a:avLst>
              <a:gd name="adj" fmla="val 19207"/>
            </a:avLst>
          </a:prstGeom>
          <a:solidFill>
            <a:srgbClr val="6B4D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1748730" y="4384178"/>
            <a:ext cx="9986069" cy="495895"/>
          </a:xfrm>
          <a:prstGeom prst="roundRect">
            <a:avLst>
              <a:gd name="adj" fmla="val 19207"/>
            </a:avLst>
          </a:prstGeom>
          <a:gradFill rotWithShape="1">
            <a:gsLst>
              <a:gs pos="0">
                <a:srgbClr val="6B4D3E"/>
              </a:gs>
              <a:gs pos="100000">
                <a:srgbClr val="8B6D5E"/>
              </a:gs>
            </a:gsLst>
            <a:lin ang="108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916337" y="4538632"/>
            <a:ext cx="213265" cy="186607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457188" y="266693"/>
            <a:ext cx="4320670" cy="5048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533" b="1" i="0">
                <a:solidFill>
                  <a:srgbClr val="B8860B"/>
                </a:solidFill>
                <a:latin typeface="Poppins"/>
              </a:rPr>
              <a:t>Architecture Deep Dive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188" y="804544"/>
            <a:ext cx="10131221" cy="36804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96" b="0" i="0" dirty="0">
                <a:solidFill>
                  <a:srgbClr val="5A5651"/>
                </a:solidFill>
                <a:latin typeface="Open Sans"/>
              </a:rPr>
              <a:t>The architecture flows from dual data stores through Spark processing into three parallel consumption paths — all converging in a single </a:t>
            </a:r>
            <a:r>
              <a:rPr sz="1196" b="0" i="0" dirty="0" err="1">
                <a:solidFill>
                  <a:srgbClr val="5A5651"/>
                </a:solidFill>
                <a:latin typeface="Open Sans"/>
              </a:rPr>
              <a:t>Streamlit</a:t>
            </a:r>
            <a:r>
              <a:rPr sz="1196" b="0" i="0" dirty="0">
                <a:solidFill>
                  <a:srgbClr val="5A5651"/>
                </a:solidFill>
                <a:latin typeface="Open Sans"/>
              </a:rPr>
              <a:t> application</a:t>
            </a:r>
            <a:endParaRPr sz="1139" b="0" i="0" dirty="0">
              <a:solidFill>
                <a:srgbClr val="B8860B"/>
              </a:solidFill>
              <a:latin typeface="Open Sans"/>
              <a:hlinkClick r:id="rId13" tooltip="README.md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740847" y="1565186"/>
            <a:ext cx="632652" cy="16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91" b="1" i="0">
                <a:solidFill>
                  <a:srgbClr val="FFFFFF"/>
                </a:solidFill>
                <a:latin typeface="Poppins"/>
              </a:rPr>
              <a:t>Data Layer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90546" y="1477231"/>
            <a:ext cx="718524" cy="18097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96" b="1" i="0">
                <a:solidFill>
                  <a:srgbClr val="A37400"/>
                </a:solidFill>
                <a:latin typeface="Poppins"/>
              </a:rPr>
              <a:t>Lakehouse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90546" y="1657308"/>
            <a:ext cx="2790606" cy="14287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19" b="0" i="0">
                <a:solidFill>
                  <a:srgbClr val="5A5651"/>
                </a:solidFill>
                <a:latin typeface="Open Sans"/>
              </a:rPr>
              <a:t>Relational + CSV data (policy, vehicle, customer, claims)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21555" y="1477231"/>
            <a:ext cx="1147436" cy="18097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96" b="1" i="0">
                <a:solidFill>
                  <a:srgbClr val="A37400"/>
                </a:solidFill>
                <a:latin typeface="Poppins"/>
              </a:rPr>
              <a:t>Eventhouse / KQL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21555" y="1657308"/>
            <a:ext cx="1833814" cy="14287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19" b="0" i="0">
                <a:solidFill>
                  <a:srgbClr val="5A5651"/>
                </a:solidFill>
                <a:latin typeface="Open Sans"/>
              </a:rPr>
              <a:t>Real-time telematics streaming data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8984" y="2304694"/>
            <a:ext cx="996528" cy="16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91" b="1" i="0">
                <a:solidFill>
                  <a:srgbClr val="FFFFFF"/>
                </a:solidFill>
                <a:latin typeface="Poppins"/>
              </a:rPr>
              <a:t>Processing Layer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13316" y="2216739"/>
            <a:ext cx="1581705" cy="18097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96" b="1" i="0">
                <a:solidFill>
                  <a:srgbClr val="A37400"/>
                </a:solidFill>
                <a:latin typeface="Poppins"/>
              </a:rPr>
              <a:t>Fabric Spark Notebooks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13316" y="2396816"/>
            <a:ext cx="3378760" cy="14287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19" b="0" i="0">
                <a:solidFill>
                  <a:srgbClr val="5A5651"/>
                </a:solidFill>
                <a:latin typeface="Open Sans"/>
              </a:rPr>
              <a:t>Ingestion, feature engineering, risk scoring, premium computation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7544" y="3062359"/>
            <a:ext cx="619258" cy="16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91" b="1" i="0">
                <a:solidFill>
                  <a:srgbClr val="FFFFFF"/>
                </a:solidFill>
                <a:latin typeface="Poppins"/>
              </a:rPr>
              <a:t>Gold Layer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90546" y="2956247"/>
            <a:ext cx="1496280" cy="18097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96" b="1" i="0">
                <a:solidFill>
                  <a:srgbClr val="A37400"/>
                </a:solidFill>
                <a:latin typeface="Poppins"/>
              </a:rPr>
              <a:t>7 Curated Delta Tables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190546" y="3145760"/>
            <a:ext cx="769422" cy="179065"/>
          </a:xfrm>
          <a:prstGeom prst="rect">
            <a:avLst/>
          </a:prstGeom>
          <a:solidFill>
            <a:srgbClr val="FFF8EE"/>
          </a:solidFill>
        </p:spPr>
        <p:txBody>
          <a:bodyPr wrap="square" lIns="76198" tIns="22859" rIns="76198" bIns="22859">
            <a:spAutoFit/>
          </a:bodyPr>
          <a:lstStyle/>
          <a:p>
            <a:pPr algn="l"/>
            <a:r>
              <a:rPr sz="676" b="1" i="0">
                <a:solidFill>
                  <a:srgbClr val="C4793A"/>
                </a:solidFill>
                <a:latin typeface="Open Sans"/>
              </a:rPr>
              <a:t>Trip Features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005657" y="3145760"/>
            <a:ext cx="865562" cy="179065"/>
          </a:xfrm>
          <a:prstGeom prst="rect">
            <a:avLst/>
          </a:prstGeom>
          <a:solidFill>
            <a:srgbClr val="FFF8EE"/>
          </a:solidFill>
        </p:spPr>
        <p:txBody>
          <a:bodyPr wrap="square" lIns="76198" tIns="22859" rIns="76198" bIns="22859">
            <a:spAutoFit/>
          </a:bodyPr>
          <a:lstStyle/>
          <a:p>
            <a:pPr algn="l"/>
            <a:r>
              <a:rPr sz="676" b="1" i="0">
                <a:solidFill>
                  <a:srgbClr val="C4793A"/>
                </a:solidFill>
                <a:latin typeface="Open Sans"/>
              </a:rPr>
              <a:t>Driver Monthly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916909" y="3145760"/>
            <a:ext cx="1194762" cy="179065"/>
          </a:xfrm>
          <a:prstGeom prst="rect">
            <a:avLst/>
          </a:prstGeom>
          <a:solidFill>
            <a:srgbClr val="FFF8EE"/>
          </a:solidFill>
        </p:spPr>
        <p:txBody>
          <a:bodyPr wrap="square" lIns="76198" tIns="22859" rIns="76198" bIns="22859">
            <a:spAutoFit/>
          </a:bodyPr>
          <a:lstStyle/>
          <a:p>
            <a:pPr algn="l"/>
            <a:r>
              <a:rPr sz="676" b="1" i="0">
                <a:solidFill>
                  <a:srgbClr val="C4793A"/>
                </a:solidFill>
                <a:latin typeface="Open Sans"/>
              </a:rPr>
              <a:t>Policy Period Features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57360" y="3145760"/>
            <a:ext cx="989235" cy="179065"/>
          </a:xfrm>
          <a:prstGeom prst="rect">
            <a:avLst/>
          </a:prstGeom>
          <a:solidFill>
            <a:srgbClr val="FFF8EE"/>
          </a:solidFill>
        </p:spPr>
        <p:txBody>
          <a:bodyPr wrap="square" lIns="76198" tIns="22859" rIns="76198" bIns="22859">
            <a:spAutoFit/>
          </a:bodyPr>
          <a:lstStyle/>
          <a:p>
            <a:pPr algn="l"/>
            <a:r>
              <a:rPr sz="676" b="1" i="0">
                <a:solidFill>
                  <a:srgbClr val="C4793A"/>
                </a:solidFill>
                <a:latin typeface="Open Sans"/>
              </a:rPr>
              <a:t>Policy Period Loss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92285" y="3145760"/>
            <a:ext cx="1137316" cy="179065"/>
          </a:xfrm>
          <a:prstGeom prst="rect">
            <a:avLst/>
          </a:prstGeom>
          <a:solidFill>
            <a:srgbClr val="FFF8EE"/>
          </a:solidFill>
        </p:spPr>
        <p:txBody>
          <a:bodyPr wrap="square" lIns="76198" tIns="22859" rIns="76198" bIns="22859">
            <a:spAutoFit/>
          </a:bodyPr>
          <a:lstStyle/>
          <a:p>
            <a:pPr algn="l"/>
            <a:r>
              <a:rPr sz="676" b="1" i="0">
                <a:solidFill>
                  <a:srgbClr val="C4793A"/>
                </a:solidFill>
                <a:latin typeface="Open Sans"/>
              </a:rPr>
              <a:t>Expected Loss Scores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75290" y="3145760"/>
            <a:ext cx="1490774" cy="179065"/>
          </a:xfrm>
          <a:prstGeom prst="rect">
            <a:avLst/>
          </a:prstGeom>
          <a:solidFill>
            <a:srgbClr val="FFF8EE"/>
          </a:solidFill>
        </p:spPr>
        <p:txBody>
          <a:bodyPr wrap="square" lIns="76198" tIns="22859" rIns="76198" bIns="22859">
            <a:spAutoFit/>
          </a:bodyPr>
          <a:lstStyle/>
          <a:p>
            <a:pPr algn="l"/>
            <a:r>
              <a:rPr sz="676" b="1" i="0">
                <a:solidFill>
                  <a:srgbClr val="C4793A"/>
                </a:solidFill>
                <a:latin typeface="Open Sans"/>
              </a:rPr>
              <a:t>Premium Recommendations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911754" y="3145760"/>
            <a:ext cx="800228" cy="179065"/>
          </a:xfrm>
          <a:prstGeom prst="rect">
            <a:avLst/>
          </a:prstGeom>
          <a:solidFill>
            <a:srgbClr val="FFF8EE"/>
          </a:solidFill>
        </p:spPr>
        <p:txBody>
          <a:bodyPr wrap="square" lIns="76198" tIns="22859" rIns="76198" bIns="22859">
            <a:spAutoFit/>
          </a:bodyPr>
          <a:lstStyle/>
          <a:p>
            <a:pPr algn="l"/>
            <a:r>
              <a:rPr sz="676" b="1" i="0">
                <a:solidFill>
                  <a:srgbClr val="C4793A"/>
                </a:solidFill>
                <a:latin typeface="Open Sans"/>
              </a:rPr>
              <a:t>Reason Codes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3934" y="3751565"/>
            <a:ext cx="806479" cy="2989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91" b="1" i="0">
                <a:solidFill>
                  <a:srgbClr val="FFFFFF"/>
                </a:solidFill>
                <a:latin typeface="Poppins"/>
              </a:rPr>
              <a:t>Consumption Paths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190546" y="3732069"/>
            <a:ext cx="1571139" cy="18097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96" b="1" i="0">
                <a:solidFill>
                  <a:srgbClr val="A37400"/>
                </a:solidFill>
                <a:latin typeface="Poppins"/>
              </a:rPr>
              <a:t>Path A: Semantic Model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190546" y="3912147"/>
            <a:ext cx="2160930" cy="252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19" b="0" i="0" dirty="0">
                <a:solidFill>
                  <a:srgbClr val="5A5651"/>
                </a:solidFill>
                <a:latin typeface="Open Sans"/>
              </a:rPr>
              <a:t>Power BI Reports (embedded dashboards)</a:t>
            </a:r>
            <a:r>
              <a:rPr lang="en-US" sz="819" b="0" i="0" dirty="0">
                <a:solidFill>
                  <a:srgbClr val="5A5651"/>
                </a:solidFill>
                <a:latin typeface="Open Sans"/>
              </a:rPr>
              <a:t> and </a:t>
            </a:r>
            <a:r>
              <a:rPr lang="en-US" sz="819" b="0" i="0" dirty="0" err="1">
                <a:solidFill>
                  <a:srgbClr val="5A5651"/>
                </a:solidFill>
                <a:latin typeface="Open Sans"/>
              </a:rPr>
              <a:t>Adhoc</a:t>
            </a:r>
            <a:r>
              <a:rPr lang="en-US" sz="819" b="0" i="0" dirty="0">
                <a:solidFill>
                  <a:srgbClr val="5A5651"/>
                </a:solidFill>
                <a:latin typeface="Open Sans"/>
              </a:rPr>
              <a:t> exploration</a:t>
            </a:r>
            <a:endParaRPr sz="819" b="0" i="0" dirty="0">
              <a:solidFill>
                <a:srgbClr val="5A5651"/>
              </a:solidFill>
              <a:latin typeface="Open Sans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5567372" y="3732069"/>
            <a:ext cx="1238516" cy="18097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96" b="1" i="0">
                <a:solidFill>
                  <a:srgbClr val="A37400"/>
                </a:solidFill>
                <a:latin typeface="Poppins"/>
              </a:rPr>
              <a:t>Path B: Data Agent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567372" y="3912147"/>
            <a:ext cx="2094405" cy="14287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19" b="0" i="0">
                <a:solidFill>
                  <a:srgbClr val="5A5651"/>
                </a:solidFill>
                <a:latin typeface="Open Sans"/>
              </a:rPr>
              <a:t>NL Q&amp;A on Lakehouse &amp; KQL Gold tables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898657" y="3732069"/>
            <a:ext cx="1559530" cy="18097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96" b="1" i="0">
                <a:solidFill>
                  <a:srgbClr val="A37400"/>
                </a:solidFill>
                <a:latin typeface="Poppins"/>
              </a:rPr>
              <a:t>Path C: Fabric Ontology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898657" y="3912147"/>
            <a:ext cx="2314963" cy="14287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19" b="0" i="0">
                <a:solidFill>
                  <a:srgbClr val="5A5651"/>
                </a:solidFill>
                <a:latin typeface="Open Sans"/>
              </a:rPr>
              <a:t>Data Agent on Ontology (semantic reasoning)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15398" y="4544353"/>
            <a:ext cx="683699" cy="16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91" b="1" i="0">
                <a:solidFill>
                  <a:srgbClr val="FFFFFF"/>
                </a:solidFill>
                <a:latin typeface="Poppins"/>
              </a:rPr>
              <a:t>Application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236235" y="4456397"/>
            <a:ext cx="920181" cy="13785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896" b="1" i="0" dirty="0">
                <a:solidFill>
                  <a:srgbClr val="FFFFFF"/>
                </a:solidFill>
                <a:latin typeface="Poppins"/>
              </a:rPr>
              <a:t>Front end</a:t>
            </a:r>
            <a:r>
              <a:rPr sz="896" b="1" i="0" dirty="0">
                <a:solidFill>
                  <a:srgbClr val="FFFFFF"/>
                </a:solidFill>
                <a:latin typeface="Poppins"/>
              </a:rPr>
              <a:t> App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236235" y="4636475"/>
            <a:ext cx="3126205" cy="14287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19" b="0" i="0">
                <a:solidFill>
                  <a:srgbClr val="FFEDC8"/>
                </a:solidFill>
                <a:latin typeface="Open Sans"/>
              </a:rPr>
              <a:t>Unified persona-based views — all three paths converge here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594511" y="6486362"/>
            <a:ext cx="1139994" cy="14287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797" b="0" i="0">
                <a:solidFill>
                  <a:srgbClr val="8A8580"/>
                </a:solidFill>
                <a:latin typeface="Open Sans"/>
              </a:rPr>
              <a:t>Architecture Deep Dive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1836241"/>
            <a:ext cx="2676525" cy="4358133"/>
          </a:xfrm>
          <a:prstGeom prst="roundRect">
            <a:avLst>
              <a:gd name="adj" fmla="val 4982"/>
            </a:avLst>
          </a:prstGeom>
          <a:solidFill>
            <a:srgbClr val="F5E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7700" y="2064841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FF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00079" y="2226710"/>
            <a:ext cx="152396" cy="13334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324225" y="1836241"/>
            <a:ext cx="2676525" cy="4358133"/>
          </a:xfrm>
          <a:prstGeom prst="roundRect">
            <a:avLst>
              <a:gd name="adj" fmla="val 4982"/>
            </a:avLst>
          </a:prstGeom>
          <a:solidFill>
            <a:srgbClr val="F5E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514725" y="2064841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FF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67033" y="2217185"/>
            <a:ext cx="152388" cy="15241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191250" y="1836241"/>
            <a:ext cx="2676525" cy="4358133"/>
          </a:xfrm>
          <a:prstGeom prst="roundRect">
            <a:avLst>
              <a:gd name="adj" fmla="val 4982"/>
            </a:avLst>
          </a:prstGeom>
          <a:solidFill>
            <a:srgbClr val="F5E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381750" y="2064841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FF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14937" y="2217185"/>
            <a:ext cx="190495" cy="152396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9058275" y="1836241"/>
            <a:ext cx="2676525" cy="4358133"/>
          </a:xfrm>
          <a:prstGeom prst="roundRect">
            <a:avLst>
              <a:gd name="adj" fmla="val 4982"/>
            </a:avLst>
          </a:prstGeom>
          <a:solidFill>
            <a:srgbClr val="F5E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248775" y="2064841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FF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91415" y="2226710"/>
            <a:ext cx="171445" cy="133346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7188" y="6411355"/>
            <a:ext cx="121887" cy="121887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7188" y="333366"/>
            <a:ext cx="5427328" cy="6381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167" b="1" i="0">
                <a:solidFill>
                  <a:srgbClr val="B8860B"/>
                </a:solidFill>
                <a:latin typeface="Poppins"/>
              </a:rPr>
              <a:t>Four Views Per Persona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188" y="1030460"/>
            <a:ext cx="10701516" cy="5429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24" b="0" i="0">
                <a:solidFill>
                  <a:srgbClr val="5A5651"/>
                </a:solidFill>
                <a:latin typeface="Open Sans"/>
              </a:rPr>
              <a:t>Each persona gets four integrated views — not just dashboards, but ad-hoc exploration and two distinct AI-powered Q&amp;A channels — delivering analytics, self-service, and explainability in one place.</a:t>
            </a:r>
            <a:r>
              <a:rPr sz="1139" b="0" i="0">
                <a:solidFill>
                  <a:srgbClr val="B8860B"/>
                </a:solidFill>
                <a:latin typeface="Open Sans"/>
              </a:rPr>
              <a:t> </a:t>
            </a:r>
            <a:r>
              <a:rPr sz="1139" b="0" i="0">
                <a:solidFill>
                  <a:srgbClr val="B8860B"/>
                </a:solidFill>
                <a:latin typeface="Open Sans"/>
                <a:hlinkClick r:id="rId7" tooltip="README.md"/>
              </a:rPr>
              <a:t>[1]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683" y="2674374"/>
            <a:ext cx="454063" cy="18097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96" b="1" i="0">
                <a:solidFill>
                  <a:srgbClr val="A37400"/>
                </a:solidFill>
                <a:latin typeface="Poppins"/>
              </a:rPr>
              <a:t>View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683" y="2901034"/>
            <a:ext cx="2038150" cy="27621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71" b="1" i="0">
                <a:solidFill>
                  <a:srgbClr val="B8860B"/>
                </a:solidFill>
                <a:latin typeface="Poppins"/>
              </a:rPr>
              <a:t>Power BI Dashboard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683" y="3282322"/>
            <a:ext cx="2284156" cy="8721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39" b="0" i="0">
                <a:solidFill>
                  <a:srgbClr val="5A5651"/>
                </a:solidFill>
                <a:latin typeface="Open Sans"/>
              </a:rPr>
              <a:t>Embedded Power BI report with interactive visuals tailored to the persona. Personalize Visuals enabled for inline tweaks.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14637" y="2676160"/>
            <a:ext cx="479214" cy="18097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96" b="1" i="0">
                <a:solidFill>
                  <a:srgbClr val="A37400"/>
                </a:solidFill>
                <a:latin typeface="Poppins"/>
              </a:rPr>
              <a:t>View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14637" y="2908475"/>
            <a:ext cx="1698235" cy="27621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71" b="1" i="0">
                <a:solidFill>
                  <a:srgbClr val="B8860B"/>
                </a:solidFill>
                <a:latin typeface="Poppins"/>
              </a:rPr>
              <a:t>Explore / Ad-hoc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14637" y="3289763"/>
            <a:ext cx="2237277" cy="35060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39" b="0" i="0" dirty="0">
                <a:solidFill>
                  <a:srgbClr val="5A5651"/>
                </a:solidFill>
                <a:latin typeface="Open Sans"/>
              </a:rPr>
              <a:t>Users drag fields and create their own ad-hoc visuals.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1590" y="2674374"/>
            <a:ext cx="483679" cy="18097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96" b="1" i="0">
                <a:solidFill>
                  <a:srgbClr val="A37400"/>
                </a:solidFill>
                <a:latin typeface="Poppins"/>
              </a:rPr>
              <a:t>View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81590" y="2901034"/>
            <a:ext cx="1729934" cy="5336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71" b="1" i="0">
                <a:solidFill>
                  <a:srgbClr val="B8860B"/>
                </a:solidFill>
                <a:latin typeface="Poppins"/>
              </a:rPr>
              <a:t>Data Agent on Lakehouse &amp; KQL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81590" y="3539788"/>
            <a:ext cx="2256177" cy="8721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39" b="0" i="0">
                <a:solidFill>
                  <a:srgbClr val="5A5651"/>
                </a:solidFill>
                <a:latin typeface="Open Sans"/>
              </a:rPr>
              <a:t>Natural-language Q&amp;A powered by Fabric Data Agent querying Gold tables and Eventhouse KQL tables.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48543" y="2674374"/>
            <a:ext cx="493055" cy="18097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96" b="1" i="0">
                <a:solidFill>
                  <a:srgbClr val="A37400"/>
                </a:solidFill>
                <a:latin typeface="Poppins"/>
              </a:rPr>
              <a:t>View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48543" y="2901034"/>
            <a:ext cx="2136076" cy="5336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71" b="1" i="0">
                <a:solidFill>
                  <a:srgbClr val="B8860B"/>
                </a:solidFill>
                <a:latin typeface="Poppins"/>
              </a:rPr>
              <a:t>Data Agent on Fabric Ontology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48543" y="3539788"/>
            <a:ext cx="2253647" cy="8721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39" b="0" i="0">
                <a:solidFill>
                  <a:srgbClr val="5A5651"/>
                </a:solidFill>
                <a:latin typeface="Open Sans"/>
              </a:rPr>
              <a:t>Natural-language Q&amp;A backed by Fabric Ontology for semantic reasoning and domain-level explainability.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1821060"/>
            <a:ext cx="2133600" cy="4381053"/>
          </a:xfrm>
          <a:prstGeom prst="roundRect">
            <a:avLst>
              <a:gd name="adj" fmla="val 625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639960" y="2034331"/>
            <a:ext cx="419100" cy="419100"/>
          </a:xfrm>
          <a:prstGeom prst="ellipse">
            <a:avLst/>
          </a:prstGeom>
          <a:solidFill>
            <a:srgbClr val="FFF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5226" y="2144733"/>
            <a:ext cx="148526" cy="198035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39960" y="2575321"/>
            <a:ext cx="805160" cy="222646"/>
          </a:xfrm>
          <a:prstGeom prst="roundRect">
            <a:avLst>
              <a:gd name="adj" fmla="val 50000"/>
            </a:avLst>
          </a:prstGeom>
          <a:solidFill>
            <a:srgbClr val="FFF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743200" y="1821060"/>
            <a:ext cx="2133600" cy="4381053"/>
          </a:xfrm>
          <a:prstGeom prst="roundRect">
            <a:avLst>
              <a:gd name="adj" fmla="val 6250"/>
            </a:avLst>
          </a:prstGeom>
          <a:solidFill>
            <a:srgbClr val="F5E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2925960" y="2034331"/>
            <a:ext cx="419100" cy="419100"/>
          </a:xfrm>
          <a:prstGeom prst="ellipse">
            <a:avLst/>
          </a:prstGeom>
          <a:solidFill>
            <a:srgbClr val="FF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23963" y="2144733"/>
            <a:ext cx="222751" cy="19803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2925960" y="2575321"/>
            <a:ext cx="1032867" cy="222646"/>
          </a:xfrm>
          <a:prstGeom prst="roundRect">
            <a:avLst>
              <a:gd name="adj" fmla="val 50000"/>
            </a:avLst>
          </a:prstGeom>
          <a:solidFill>
            <a:srgbClr val="FF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029200" y="1821060"/>
            <a:ext cx="2133600" cy="4381053"/>
          </a:xfrm>
          <a:prstGeom prst="roundRect">
            <a:avLst>
              <a:gd name="adj" fmla="val 6250"/>
            </a:avLst>
          </a:prstGeom>
          <a:solidFill>
            <a:srgbClr val="F5E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5211960" y="2034331"/>
            <a:ext cx="419100" cy="419100"/>
          </a:xfrm>
          <a:prstGeom prst="ellipse">
            <a:avLst/>
          </a:prstGeom>
          <a:solidFill>
            <a:srgbClr val="FF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22258" y="2144708"/>
            <a:ext cx="198085" cy="198085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211960" y="2575321"/>
            <a:ext cx="1032867" cy="222646"/>
          </a:xfrm>
          <a:prstGeom prst="roundRect">
            <a:avLst>
              <a:gd name="adj" fmla="val 50000"/>
            </a:avLst>
          </a:prstGeom>
          <a:solidFill>
            <a:srgbClr val="FF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315200" y="1821060"/>
            <a:ext cx="2133600" cy="4381053"/>
          </a:xfrm>
          <a:prstGeom prst="roundRect">
            <a:avLst>
              <a:gd name="adj" fmla="val 6250"/>
            </a:avLst>
          </a:prstGeom>
          <a:solidFill>
            <a:srgbClr val="F5E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7497960" y="2034331"/>
            <a:ext cx="419100" cy="419100"/>
          </a:xfrm>
          <a:prstGeom prst="ellipse">
            <a:avLst/>
          </a:prstGeom>
          <a:solidFill>
            <a:srgbClr val="FF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08226" y="2144733"/>
            <a:ext cx="209611" cy="198035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7497960" y="2575321"/>
            <a:ext cx="1032867" cy="222646"/>
          </a:xfrm>
          <a:prstGeom prst="roundRect">
            <a:avLst>
              <a:gd name="adj" fmla="val 50000"/>
            </a:avLst>
          </a:prstGeom>
          <a:solidFill>
            <a:srgbClr val="FF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601200" y="1821060"/>
            <a:ext cx="2133600" cy="4381053"/>
          </a:xfrm>
          <a:prstGeom prst="roundRect">
            <a:avLst>
              <a:gd name="adj" fmla="val 6250"/>
            </a:avLst>
          </a:prstGeom>
          <a:solidFill>
            <a:srgbClr val="F5E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783960" y="2034331"/>
            <a:ext cx="419100" cy="419100"/>
          </a:xfrm>
          <a:prstGeom prst="ellipse">
            <a:avLst/>
          </a:prstGeom>
          <a:solidFill>
            <a:srgbClr val="FF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906645" y="2144761"/>
            <a:ext cx="173231" cy="197978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9783960" y="2575321"/>
            <a:ext cx="1032867" cy="222646"/>
          </a:xfrm>
          <a:prstGeom prst="roundRect">
            <a:avLst>
              <a:gd name="adj" fmla="val 50000"/>
            </a:avLst>
          </a:prstGeom>
          <a:solidFill>
            <a:srgbClr val="FF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5274" y="6404118"/>
            <a:ext cx="129378" cy="12936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57188" y="333366"/>
            <a:ext cx="4517118" cy="6381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167" b="1" i="0">
                <a:solidFill>
                  <a:srgbClr val="B8860B"/>
                </a:solidFill>
                <a:latin typeface="Poppins"/>
              </a:rPr>
              <a:t>Five Persona Pages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188" y="1030460"/>
            <a:ext cx="10095503" cy="5429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24" b="0" i="0">
                <a:solidFill>
                  <a:srgbClr val="5A5651"/>
                </a:solidFill>
                <a:latin typeface="Open Sans"/>
              </a:rPr>
              <a:t>The app is designed for five insurance roles — each with a distinct question to answer — with the Pricing/Actuarial persona fully available today and four more coming soon.</a:t>
            </a:r>
            <a:r>
              <a:rPr sz="1139" b="0" i="0">
                <a:solidFill>
                  <a:srgbClr val="B8860B"/>
                </a:solidFill>
                <a:latin typeface="Open Sans"/>
              </a:rPr>
              <a:t> </a:t>
            </a:r>
            <a:r>
              <a:rPr sz="1139" b="0" i="0">
                <a:solidFill>
                  <a:srgbClr val="B8860B"/>
                </a:solidFill>
                <a:latin typeface="Open Sans"/>
                <a:hlinkClick r:id="rId8" tooltip="README.md"/>
              </a:rPr>
              <a:t>[1]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9885" y="2575138"/>
            <a:ext cx="805259" cy="213354"/>
          </a:xfrm>
          <a:prstGeom prst="rect">
            <a:avLst/>
          </a:prstGeom>
          <a:noFill/>
        </p:spPr>
        <p:txBody>
          <a:bodyPr wrap="square" lIns="91437" tIns="30479" rIns="91437" bIns="30479">
            <a:spAutoFit/>
          </a:bodyPr>
          <a:lstStyle/>
          <a:p>
            <a:pPr algn="l"/>
            <a:r>
              <a:rPr sz="738" b="1" i="0">
                <a:solidFill>
                  <a:srgbClr val="B8860B"/>
                </a:solidFill>
                <a:latin typeface="Poppins"/>
              </a:rPr>
              <a:t>Available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9944" y="2894932"/>
            <a:ext cx="1554322" cy="22859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60" b="1" i="0">
                <a:solidFill>
                  <a:srgbClr val="FFF3DC"/>
                </a:solidFill>
                <a:latin typeface="Poppins"/>
              </a:rPr>
              <a:t>Pricing / Actuarial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9944" y="3198385"/>
            <a:ext cx="1138506" cy="3729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25" b="0" i="1">
                <a:solidFill>
                  <a:srgbClr val="FFEDC8"/>
                </a:solidFill>
                <a:latin typeface="Open Sans"/>
              </a:rPr>
              <a:t>"Are we pricing risk correctly?"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9944" y="5097384"/>
            <a:ext cx="1708801" cy="6831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11" b="0" i="0">
                <a:solidFill>
                  <a:srgbClr val="FFEDC8"/>
                </a:solidFill>
                <a:latin typeface="Open Sans"/>
              </a:rPr>
              <a:t>Pricing Adequacy Dashboard highlights gap between expected loss vs. premiums, identifies underpriced policies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9944" y="5840464"/>
            <a:ext cx="815111" cy="14287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97" b="0" i="0">
                <a:solidFill>
                  <a:srgbClr val="D4A853"/>
                </a:solidFill>
                <a:latin typeface="Open Sans"/>
              </a:rPr>
              <a:t>pages/pricing.py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25828" y="2575138"/>
            <a:ext cx="1032960" cy="213354"/>
          </a:xfrm>
          <a:prstGeom prst="rect">
            <a:avLst/>
          </a:prstGeom>
          <a:noFill/>
        </p:spPr>
        <p:txBody>
          <a:bodyPr wrap="square" lIns="91437" tIns="30479" rIns="91437" bIns="30479">
            <a:spAutoFit/>
          </a:bodyPr>
          <a:lstStyle/>
          <a:p>
            <a:pPr algn="l"/>
            <a:r>
              <a:rPr sz="738" b="1" i="0">
                <a:solidFill>
                  <a:srgbClr val="8A8580"/>
                </a:solidFill>
                <a:latin typeface="Poppins"/>
              </a:rPr>
              <a:t>Coming Soon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25887" y="2894932"/>
            <a:ext cx="1130321" cy="22859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60" b="1" i="0">
                <a:solidFill>
                  <a:srgbClr val="A37400"/>
                </a:solidFill>
                <a:latin typeface="Poppins"/>
              </a:rPr>
              <a:t>Underwriting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25887" y="3198385"/>
            <a:ext cx="1740203" cy="3729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25" b="0" i="1">
                <a:solidFill>
                  <a:srgbClr val="5A5651"/>
                </a:solidFill>
                <a:latin typeface="Open Sans"/>
              </a:rPr>
              <a:t>"Why did this premium change, and is it defensible?"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25887" y="5840464"/>
            <a:ext cx="1119010" cy="14287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97" b="0" i="0">
                <a:solidFill>
                  <a:srgbClr val="8A8580"/>
                </a:solidFill>
                <a:latin typeface="Open Sans"/>
              </a:rPr>
              <a:t>pages/underwriting.py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11771" y="2575138"/>
            <a:ext cx="1032960" cy="213354"/>
          </a:xfrm>
          <a:prstGeom prst="rect">
            <a:avLst/>
          </a:prstGeom>
          <a:noFill/>
        </p:spPr>
        <p:txBody>
          <a:bodyPr wrap="square" lIns="91437" tIns="30479" rIns="91437" bIns="30479">
            <a:spAutoFit/>
          </a:bodyPr>
          <a:lstStyle/>
          <a:p>
            <a:pPr algn="l"/>
            <a:r>
              <a:rPr sz="738" b="1" i="0">
                <a:solidFill>
                  <a:srgbClr val="8A8580"/>
                </a:solidFill>
                <a:latin typeface="Poppins"/>
              </a:rPr>
              <a:t>Coming Soon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11830" y="2894932"/>
            <a:ext cx="1332127" cy="22859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60" b="1" i="0">
                <a:solidFill>
                  <a:srgbClr val="A37400"/>
                </a:solidFill>
                <a:latin typeface="Poppins"/>
              </a:rPr>
              <a:t>Agent / Advisor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11830" y="3198385"/>
            <a:ext cx="1591230" cy="3729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25" b="0" i="1">
                <a:solidFill>
                  <a:srgbClr val="5A5651"/>
                </a:solidFill>
                <a:latin typeface="Open Sans"/>
              </a:rPr>
              <a:t>"Help me explain this premium to the customer"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11830" y="5840464"/>
            <a:ext cx="1169759" cy="14287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97" b="0" i="0">
                <a:solidFill>
                  <a:srgbClr val="8A8580"/>
                </a:solidFill>
                <a:latin typeface="Open Sans"/>
              </a:rPr>
              <a:t>pages/agent_advisor.py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7713" y="2575138"/>
            <a:ext cx="1032960" cy="213354"/>
          </a:xfrm>
          <a:prstGeom prst="rect">
            <a:avLst/>
          </a:prstGeom>
          <a:noFill/>
        </p:spPr>
        <p:txBody>
          <a:bodyPr wrap="square" lIns="91437" tIns="30479" rIns="91437" bIns="30479">
            <a:spAutoFit/>
          </a:bodyPr>
          <a:lstStyle/>
          <a:p>
            <a:pPr algn="l"/>
            <a:r>
              <a:rPr sz="738" b="1" i="0">
                <a:solidFill>
                  <a:srgbClr val="8A8580"/>
                </a:solidFill>
                <a:latin typeface="Poppins"/>
              </a:rPr>
              <a:t>Coming Soon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7773" y="2894932"/>
            <a:ext cx="1542416" cy="22859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60" b="1" i="0">
                <a:solidFill>
                  <a:srgbClr val="A37400"/>
                </a:solidFill>
                <a:latin typeface="Poppins"/>
              </a:rPr>
              <a:t>Portfolio Manager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7773" y="3198385"/>
            <a:ext cx="1754937" cy="3729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25" b="0" i="1">
                <a:solidFill>
                  <a:srgbClr val="5A5651"/>
                </a:solidFill>
                <a:latin typeface="Open Sans"/>
              </a:rPr>
              <a:t>"Is UBI improving the book of business?"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97773" y="5840464"/>
            <a:ext cx="907531" cy="14287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97" b="0" i="0">
                <a:solidFill>
                  <a:srgbClr val="8A8580"/>
                </a:solidFill>
                <a:latin typeface="Open Sans"/>
              </a:rPr>
              <a:t>pages/portfolio.py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83656" y="2575138"/>
            <a:ext cx="1032960" cy="213354"/>
          </a:xfrm>
          <a:prstGeom prst="rect">
            <a:avLst/>
          </a:prstGeom>
          <a:noFill/>
        </p:spPr>
        <p:txBody>
          <a:bodyPr wrap="square" lIns="91437" tIns="30479" rIns="91437" bIns="30479">
            <a:spAutoFit/>
          </a:bodyPr>
          <a:lstStyle/>
          <a:p>
            <a:pPr algn="l"/>
            <a:r>
              <a:rPr sz="738" b="1" i="0">
                <a:solidFill>
                  <a:srgbClr val="8A8580"/>
                </a:solidFill>
                <a:latin typeface="Poppins"/>
              </a:rPr>
              <a:t>Coming Soon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83716" y="2894932"/>
            <a:ext cx="1726958" cy="22859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60" b="1" i="0">
                <a:solidFill>
                  <a:srgbClr val="A37400"/>
                </a:solidFill>
                <a:latin typeface="Poppins"/>
              </a:rPr>
              <a:t>Executive / Strategy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83716" y="3198385"/>
            <a:ext cx="1012154" cy="3729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25" b="0" i="1">
                <a:solidFill>
                  <a:srgbClr val="5A5651"/>
                </a:solidFill>
                <a:latin typeface="Open Sans"/>
              </a:rPr>
              <a:t>"Is UBI worth the investment?"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83716" y="5840464"/>
            <a:ext cx="942951" cy="14287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97" b="0" i="0">
                <a:solidFill>
                  <a:srgbClr val="8A8580"/>
                </a:solidFill>
                <a:latin typeface="Open Sans"/>
              </a:rPr>
              <a:t>pages/executive.py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8936" y="6375190"/>
            <a:ext cx="6519550" cy="18097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68" b="0" i="0">
                <a:solidFill>
                  <a:srgbClr val="8A8580"/>
                </a:solidFill>
                <a:latin typeface="Open Sans"/>
              </a:rPr>
              <a:t>Each persona page includes 4 views: Dashboard, Explore, Data Agent on Lakehouse, Data Agent on Ontology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F5E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04800" y="1775519"/>
            <a:ext cx="5486400" cy="864989"/>
          </a:xfrm>
          <a:prstGeom prst="roundRect">
            <a:avLst>
              <a:gd name="adj" fmla="val 11011"/>
            </a:avLst>
          </a:prstGeom>
          <a:solidFill>
            <a:srgbClr val="FF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04800" y="1775519"/>
            <a:ext cx="50800" cy="864989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04536" y="2714217"/>
            <a:ext cx="86626" cy="49493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04800" y="2850058"/>
            <a:ext cx="5486400" cy="864989"/>
          </a:xfrm>
          <a:prstGeom prst="roundRect">
            <a:avLst>
              <a:gd name="adj" fmla="val 11011"/>
            </a:avLst>
          </a:prstGeom>
          <a:solidFill>
            <a:srgbClr val="FF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04800" y="2850058"/>
            <a:ext cx="50800" cy="864989"/>
          </a:xfrm>
          <a:prstGeom prst="rect">
            <a:avLst/>
          </a:prstGeom>
          <a:solidFill>
            <a:srgbClr val="3B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04536" y="3788730"/>
            <a:ext cx="86626" cy="4949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304800" y="3924597"/>
            <a:ext cx="5486400" cy="864989"/>
          </a:xfrm>
          <a:prstGeom prst="roundRect">
            <a:avLst>
              <a:gd name="adj" fmla="val 11011"/>
            </a:avLst>
          </a:prstGeom>
          <a:solidFill>
            <a:srgbClr val="FF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04800" y="3924597"/>
            <a:ext cx="50800" cy="864989"/>
          </a:xfrm>
          <a:prstGeom prst="rect">
            <a:avLst/>
          </a:prstGeom>
          <a:solidFill>
            <a:srgbClr val="C4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04536" y="4863242"/>
            <a:ext cx="86626" cy="49493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04800" y="4999136"/>
            <a:ext cx="5486400" cy="864989"/>
          </a:xfrm>
          <a:prstGeom prst="roundRect">
            <a:avLst>
              <a:gd name="adj" fmla="val 11011"/>
            </a:avLst>
          </a:prstGeom>
          <a:solidFill>
            <a:srgbClr val="FF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04800" y="4999136"/>
            <a:ext cx="50800" cy="864989"/>
          </a:xfrm>
          <a:prstGeom prst="rect">
            <a:avLst/>
          </a:prstGeom>
          <a:solidFill>
            <a:srgbClr val="4A6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400800" y="3769816"/>
            <a:ext cx="5486400" cy="1070967"/>
          </a:xfrm>
          <a:prstGeom prst="roundRect">
            <a:avLst>
              <a:gd name="adj" fmla="val 12451"/>
            </a:avLst>
          </a:prstGeom>
          <a:solidFill>
            <a:srgbClr val="F5E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91135" y="3959473"/>
            <a:ext cx="152396" cy="142871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00639" y="5064444"/>
            <a:ext cx="188411" cy="14654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04792" y="974799"/>
            <a:ext cx="2361099" cy="3428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88" b="1" i="0">
                <a:solidFill>
                  <a:srgbClr val="B8860B"/>
                </a:solidFill>
                <a:latin typeface="Poppins"/>
              </a:rPr>
              <a:t>7 Gold Delta Tables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4792" y="1339270"/>
            <a:ext cx="1465622" cy="2095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39" b="0" i="0">
                <a:solidFill>
                  <a:srgbClr val="8A8580"/>
                </a:solidFill>
                <a:latin typeface="Open Sans"/>
              </a:rPr>
              <a:t>Across 4 Data Grains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5287" y="1862983"/>
            <a:ext cx="981199" cy="22859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7" b="1" i="0">
                <a:solidFill>
                  <a:srgbClr val="A37400"/>
                </a:solidFill>
                <a:latin typeface="Poppins"/>
              </a:rPr>
              <a:t>Policy Grain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2684" y="1892302"/>
            <a:ext cx="471922" cy="18097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68" b="0" i="0">
                <a:solidFill>
                  <a:srgbClr val="8A8580"/>
                </a:solidFill>
                <a:latin typeface="Open Sans"/>
              </a:rPr>
              <a:t>3 tables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5287" y="2126105"/>
            <a:ext cx="3214309" cy="18097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68" b="0" i="0">
                <a:solidFill>
                  <a:srgbClr val="5A5651"/>
                </a:solidFill>
                <a:latin typeface="Open Sans"/>
              </a:rPr>
              <a:t>1 row per policy — risk score, premium, reason codes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5287" y="2340025"/>
            <a:ext cx="1264709" cy="188590"/>
          </a:xfrm>
          <a:prstGeom prst="rect">
            <a:avLst/>
          </a:prstGeom>
          <a:solidFill>
            <a:srgbClr val="F5E6C8"/>
          </a:solidFill>
        </p:spPr>
        <p:txBody>
          <a:bodyPr wrap="square" lIns="76198" tIns="22859" rIns="76198" bIns="22859">
            <a:spAutoFit/>
          </a:bodyPr>
          <a:lstStyle/>
          <a:p>
            <a:pPr algn="l"/>
            <a:r>
              <a:rPr sz="763" b="1" i="0">
                <a:solidFill>
                  <a:srgbClr val="5A5651"/>
                </a:solidFill>
                <a:latin typeface="Open Sans"/>
              </a:rPr>
              <a:t>expected_loss_scores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05686" y="2340025"/>
            <a:ext cx="1603582" cy="188590"/>
          </a:xfrm>
          <a:prstGeom prst="rect">
            <a:avLst/>
          </a:prstGeom>
          <a:solidFill>
            <a:srgbClr val="F5E6C8"/>
          </a:solidFill>
        </p:spPr>
        <p:txBody>
          <a:bodyPr wrap="square" lIns="76198" tIns="22859" rIns="76198" bIns="22859">
            <a:spAutoFit/>
          </a:bodyPr>
          <a:lstStyle/>
          <a:p>
            <a:pPr algn="l"/>
            <a:r>
              <a:rPr sz="763" b="1" i="0">
                <a:solidFill>
                  <a:srgbClr val="5A5651"/>
                </a:solidFill>
                <a:latin typeface="Open Sans"/>
              </a:rPr>
              <a:t>premium_recommendation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54958" y="2340025"/>
            <a:ext cx="862883" cy="188590"/>
          </a:xfrm>
          <a:prstGeom prst="rect">
            <a:avLst/>
          </a:prstGeom>
          <a:solidFill>
            <a:srgbClr val="F5E6C8"/>
          </a:solidFill>
        </p:spPr>
        <p:txBody>
          <a:bodyPr wrap="square" lIns="76198" tIns="22859" rIns="76198" bIns="22859">
            <a:spAutoFit/>
          </a:bodyPr>
          <a:lstStyle/>
          <a:p>
            <a:pPr algn="l"/>
            <a:r>
              <a:rPr sz="763" b="1" i="0">
                <a:solidFill>
                  <a:srgbClr val="5A5651"/>
                </a:solidFill>
                <a:latin typeface="Open Sans"/>
              </a:rPr>
              <a:t>reason_codes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5287" y="2937496"/>
            <a:ext cx="1539141" cy="22859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7" b="1" i="0">
                <a:solidFill>
                  <a:srgbClr val="A37400"/>
                </a:solidFill>
                <a:latin typeface="Poppins"/>
              </a:rPr>
              <a:t>Policy Period Grain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10627" y="2966814"/>
            <a:ext cx="471922" cy="18097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68" b="0" i="0">
                <a:solidFill>
                  <a:srgbClr val="8A8580"/>
                </a:solidFill>
                <a:latin typeface="Open Sans"/>
              </a:rPr>
              <a:t>2 tables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5287" y="3200617"/>
            <a:ext cx="3213267" cy="18097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68" b="0" i="0">
                <a:solidFill>
                  <a:srgbClr val="5A5651"/>
                </a:solidFill>
                <a:latin typeface="Open Sans"/>
              </a:rPr>
              <a:t>1 row per policy period — features and claims payout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5287" y="3414537"/>
            <a:ext cx="1345670" cy="188590"/>
          </a:xfrm>
          <a:prstGeom prst="rect">
            <a:avLst/>
          </a:prstGeom>
          <a:solidFill>
            <a:srgbClr val="F5E6C8"/>
          </a:solidFill>
        </p:spPr>
        <p:txBody>
          <a:bodyPr wrap="square" lIns="76198" tIns="22859" rIns="76198" bIns="22859">
            <a:spAutoFit/>
          </a:bodyPr>
          <a:lstStyle/>
          <a:p>
            <a:pPr algn="l"/>
            <a:r>
              <a:rPr sz="763" b="1" i="0">
                <a:solidFill>
                  <a:srgbClr val="5A5651"/>
                </a:solidFill>
                <a:latin typeface="Open Sans"/>
              </a:rPr>
              <a:t>policy_period_features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6646" y="3414537"/>
            <a:ext cx="1103086" cy="188590"/>
          </a:xfrm>
          <a:prstGeom prst="rect">
            <a:avLst/>
          </a:prstGeom>
          <a:solidFill>
            <a:srgbClr val="F5E6C8"/>
          </a:solidFill>
        </p:spPr>
        <p:txBody>
          <a:bodyPr wrap="square" lIns="76198" tIns="22859" rIns="76198" bIns="22859">
            <a:spAutoFit/>
          </a:bodyPr>
          <a:lstStyle/>
          <a:p>
            <a:pPr algn="l"/>
            <a:r>
              <a:rPr sz="763" b="1" i="0">
                <a:solidFill>
                  <a:srgbClr val="5A5651"/>
                </a:solidFill>
                <a:latin typeface="Open Sans"/>
              </a:rPr>
              <a:t>policy_period_loss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5287" y="4012008"/>
            <a:ext cx="986259" cy="22859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7" b="1" i="0">
                <a:solidFill>
                  <a:srgbClr val="A37400"/>
                </a:solidFill>
                <a:latin typeface="Poppins"/>
              </a:rPr>
              <a:t>Driver Grain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57745" y="4041326"/>
            <a:ext cx="410160" cy="18097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68" b="0" i="0">
                <a:solidFill>
                  <a:srgbClr val="8A8580"/>
                </a:solidFill>
                <a:latin typeface="Open Sans"/>
              </a:rPr>
              <a:t>1 table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5287" y="4275129"/>
            <a:ext cx="3414775" cy="18097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68" b="0" i="0">
                <a:solidFill>
                  <a:srgbClr val="5A5651"/>
                </a:solidFill>
                <a:latin typeface="Open Sans"/>
              </a:rPr>
              <a:t>1 row per driver per month — monthly rollups for trends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5287" y="4489049"/>
            <a:ext cx="1457437" cy="188590"/>
          </a:xfrm>
          <a:prstGeom prst="rect">
            <a:avLst/>
          </a:prstGeom>
          <a:solidFill>
            <a:srgbClr val="F5E6C8"/>
          </a:solidFill>
        </p:spPr>
        <p:txBody>
          <a:bodyPr wrap="square" lIns="76198" tIns="22859" rIns="76198" bIns="22859">
            <a:spAutoFit/>
          </a:bodyPr>
          <a:lstStyle/>
          <a:p>
            <a:pPr algn="l"/>
            <a:r>
              <a:rPr sz="763" b="1" i="0">
                <a:solidFill>
                  <a:srgbClr val="5A5651"/>
                </a:solidFill>
                <a:latin typeface="Open Sans"/>
              </a:rPr>
              <a:t>driver_monthly_features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5287" y="5086520"/>
            <a:ext cx="806181" cy="22859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7" b="1" i="0">
                <a:solidFill>
                  <a:srgbClr val="A37400"/>
                </a:solidFill>
                <a:latin typeface="Poppins"/>
              </a:rPr>
              <a:t>Trip Grain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7667" y="5115838"/>
            <a:ext cx="410160" cy="18097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68" b="0" i="0">
                <a:solidFill>
                  <a:srgbClr val="8A8580"/>
                </a:solidFill>
                <a:latin typeface="Open Sans"/>
              </a:rPr>
              <a:t>1 table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5287" y="5349641"/>
            <a:ext cx="3479514" cy="18097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68" b="0" i="0">
                <a:solidFill>
                  <a:srgbClr val="5A5651"/>
                </a:solidFill>
                <a:latin typeface="Open Sans"/>
              </a:rPr>
              <a:t>1 row per trip — speed, braking, acceleration, safety score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5287" y="5563562"/>
            <a:ext cx="837881" cy="188590"/>
          </a:xfrm>
          <a:prstGeom prst="rect">
            <a:avLst/>
          </a:prstGeom>
          <a:solidFill>
            <a:srgbClr val="F5E6C8"/>
          </a:solidFill>
        </p:spPr>
        <p:txBody>
          <a:bodyPr wrap="square" lIns="76198" tIns="22859" rIns="76198" bIns="22859">
            <a:spAutoFit/>
          </a:bodyPr>
          <a:lstStyle/>
          <a:p>
            <a:pPr algn="l"/>
            <a:r>
              <a:rPr sz="763" b="1" i="0">
                <a:solidFill>
                  <a:srgbClr val="5A5651"/>
                </a:solidFill>
                <a:latin typeface="Open Sans"/>
              </a:rPr>
              <a:t>trip_features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639" y="1139101"/>
            <a:ext cx="5006304" cy="11867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167" b="1" i="0">
                <a:solidFill>
                  <a:srgbClr val="B8860B"/>
                </a:solidFill>
                <a:latin typeface="Poppins"/>
              </a:rPr>
              <a:t>Gold Tables and Data Model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639" y="2407681"/>
            <a:ext cx="5134441" cy="8766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24" b="0" i="0" dirty="0">
                <a:solidFill>
                  <a:srgbClr val="5A5651"/>
                </a:solidFill>
                <a:latin typeface="Open Sans"/>
              </a:rPr>
              <a:t>Seven curated Gold Delta tables provide the analytical backbone — from granular trip-level features up to policy-level premium recommendations with explainable reason codes.</a:t>
            </a:r>
            <a:endParaRPr sz="1139" b="0" i="0" dirty="0">
              <a:solidFill>
                <a:srgbClr val="B8860B"/>
              </a:solidFill>
              <a:latin typeface="Open Sans"/>
              <a:hlinkClick r:id="rId5" tooltip="README.md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804400" y="3912593"/>
            <a:ext cx="1974899" cy="22859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60" b="1" i="0">
                <a:solidFill>
                  <a:srgbClr val="B8860B"/>
                </a:solidFill>
                <a:latin typeface="Poppins"/>
              </a:rPr>
              <a:t>Risk Model Parameters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91135" y="4240751"/>
            <a:ext cx="1078828" cy="18097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25" b="0" i="0">
                <a:solidFill>
                  <a:srgbClr val="5A5651"/>
                </a:solidFill>
                <a:latin typeface="Open Sans"/>
              </a:rPr>
              <a:t>Target Loss Ratio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15652" y="4212177"/>
            <a:ext cx="328753" cy="21906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5" b="1" i="0">
                <a:solidFill>
                  <a:srgbClr val="B8860B"/>
                </a:solidFill>
                <a:latin typeface="Poppins"/>
              </a:rPr>
              <a:t>65%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34900" y="4240751"/>
            <a:ext cx="885207" cy="18097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25" b="0" i="0">
                <a:solidFill>
                  <a:srgbClr val="5A5651"/>
                </a:solidFill>
                <a:latin typeface="Open Sans"/>
              </a:rPr>
              <a:t>Expense Load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65797" y="4212177"/>
            <a:ext cx="289016" cy="21906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5" b="1" i="0">
                <a:solidFill>
                  <a:srgbClr val="B8860B"/>
                </a:solidFill>
                <a:latin typeface="Poppins"/>
              </a:rPr>
              <a:t>15%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45309" y="4240751"/>
            <a:ext cx="697837" cy="18097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25" b="0" i="0">
                <a:solidFill>
                  <a:srgbClr val="5A5651"/>
                </a:solidFill>
                <a:latin typeface="Open Sans"/>
              </a:rPr>
              <a:t>Profit Load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388836" y="4212177"/>
            <a:ext cx="231719" cy="21906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5" b="1" i="0">
                <a:solidFill>
                  <a:srgbClr val="B8860B"/>
                </a:solidFill>
                <a:latin typeface="Poppins"/>
              </a:rPr>
              <a:t>5%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91135" y="4499705"/>
            <a:ext cx="1072726" cy="18097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25" b="0" i="0">
                <a:solidFill>
                  <a:srgbClr val="5A5651"/>
                </a:solidFill>
                <a:latin typeface="Open Sans"/>
              </a:rPr>
              <a:t>Max Change Cap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09550" y="4471131"/>
            <a:ext cx="542167" cy="21906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5" b="1" i="0">
                <a:solidFill>
                  <a:srgbClr val="B8860B"/>
                </a:solidFill>
                <a:latin typeface="Poppins"/>
              </a:rPr>
              <a:t>+/-15%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42213" y="4499705"/>
            <a:ext cx="1096091" cy="18097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25" b="0" i="0">
                <a:solidFill>
                  <a:srgbClr val="5A5651"/>
                </a:solidFill>
                <a:latin typeface="Open Sans"/>
              </a:rPr>
              <a:t>Smoothing Alpha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83993" y="4471131"/>
            <a:ext cx="234547" cy="21906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5" b="1" i="0">
                <a:solidFill>
                  <a:srgbClr val="B8860B"/>
                </a:solidFill>
                <a:latin typeface="Poppins"/>
              </a:rPr>
              <a:t>0.3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65249" y="5031157"/>
            <a:ext cx="5205877" cy="6360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39" b="0" i="0">
                <a:solidFill>
                  <a:srgbClr val="5A5651"/>
                </a:solidFill>
                <a:latin typeface="Open Sans"/>
              </a:rPr>
              <a:t>Power BI Semantic Model built on Gold layer with entity relationships and measures: actual loss ratio, expected loss cost, recommended premium, underpricing flags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1683841"/>
            <a:ext cx="11277600" cy="1309836"/>
          </a:xfrm>
          <a:prstGeom prst="roundRect">
            <a:avLst>
              <a:gd name="adj" fmla="val 10180"/>
            </a:avLst>
          </a:prstGeom>
          <a:solidFill>
            <a:srgbClr val="F5E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5782" y="1871557"/>
            <a:ext cx="239904" cy="186592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85800" y="2530822"/>
            <a:ext cx="1258639" cy="310455"/>
          </a:xfrm>
          <a:prstGeom prst="roundRect">
            <a:avLst>
              <a:gd name="adj" fmla="val 24544"/>
            </a:avLst>
          </a:prstGeom>
          <a:solidFill>
            <a:srgbClr val="FF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2341" y="2621265"/>
            <a:ext cx="113255" cy="12943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2035819" y="2530822"/>
            <a:ext cx="828823" cy="310455"/>
          </a:xfrm>
          <a:prstGeom prst="roundRect">
            <a:avLst>
              <a:gd name="adj" fmla="val 24544"/>
            </a:avLst>
          </a:prstGeom>
          <a:solidFill>
            <a:srgbClr val="FF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42327" y="2621293"/>
            <a:ext cx="145550" cy="129397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2956024" y="2530822"/>
            <a:ext cx="924669" cy="310455"/>
          </a:xfrm>
          <a:prstGeom prst="roundRect">
            <a:avLst>
              <a:gd name="adj" fmla="val 24544"/>
            </a:avLst>
          </a:prstGeom>
          <a:solidFill>
            <a:srgbClr val="FF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062508" y="2629336"/>
            <a:ext cx="129477" cy="11329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3972073" y="2530822"/>
            <a:ext cx="793105" cy="310455"/>
          </a:xfrm>
          <a:prstGeom prst="roundRect">
            <a:avLst>
              <a:gd name="adj" fmla="val 24544"/>
            </a:avLst>
          </a:prstGeom>
          <a:solidFill>
            <a:srgbClr val="FF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078532" y="2621293"/>
            <a:ext cx="97033" cy="129377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4856559" y="2530822"/>
            <a:ext cx="1069627" cy="310455"/>
          </a:xfrm>
          <a:prstGeom prst="roundRect">
            <a:avLst>
              <a:gd name="adj" fmla="val 24544"/>
            </a:avLst>
          </a:prstGeom>
          <a:solidFill>
            <a:srgbClr val="FF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64002" y="2623296"/>
            <a:ext cx="152504" cy="12550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017567" y="2530822"/>
            <a:ext cx="975270" cy="310455"/>
          </a:xfrm>
          <a:prstGeom prst="roundRect">
            <a:avLst>
              <a:gd name="adj" fmla="val 24544"/>
            </a:avLst>
          </a:prstGeom>
          <a:solidFill>
            <a:srgbClr val="FF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23975" y="2621265"/>
            <a:ext cx="113255" cy="129434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457200" y="3115567"/>
            <a:ext cx="5562600" cy="3125241"/>
          </a:xfrm>
          <a:prstGeom prst="roundRect">
            <a:avLst>
              <a:gd name="adj" fmla="val 4266"/>
            </a:avLst>
          </a:prstGeom>
          <a:solidFill>
            <a:srgbClr val="F5E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55290" y="3283743"/>
            <a:ext cx="381000" cy="381000"/>
          </a:xfrm>
          <a:prstGeom prst="ellipse">
            <a:avLst/>
          </a:prstGeom>
          <a:solidFill>
            <a:srgbClr val="FF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65850" y="3382821"/>
            <a:ext cx="159837" cy="182671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655290" y="5493246"/>
            <a:ext cx="5166419" cy="579983"/>
          </a:xfrm>
          <a:prstGeom prst="roundRect">
            <a:avLst>
              <a:gd name="adj" fmla="val 16422"/>
            </a:avLst>
          </a:prstGeom>
          <a:solidFill>
            <a:srgbClr val="FF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172200" y="3115567"/>
            <a:ext cx="5562600" cy="3125241"/>
          </a:xfrm>
          <a:prstGeom prst="roundRect">
            <a:avLst>
              <a:gd name="adj" fmla="val 4266"/>
            </a:avLst>
          </a:prstGeom>
          <a:solidFill>
            <a:srgbClr val="F5E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370290" y="3283743"/>
            <a:ext cx="381000" cy="381000"/>
          </a:xfrm>
          <a:prstGeom prst="ellipse">
            <a:avLst/>
          </a:prstGeom>
          <a:solidFill>
            <a:srgbClr val="FF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69247" y="3382778"/>
            <a:ext cx="182756" cy="182756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6370290" y="5493246"/>
            <a:ext cx="5166419" cy="579983"/>
          </a:xfrm>
          <a:prstGeom prst="roundRect">
            <a:avLst>
              <a:gd name="adj" fmla="val 16422"/>
            </a:avLst>
          </a:prstGeom>
          <a:solidFill>
            <a:srgbClr val="FF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460264" y="6457788"/>
            <a:ext cx="142871" cy="151562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787483" y="6457788"/>
            <a:ext cx="104772" cy="152396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57188" y="257168"/>
            <a:ext cx="7781432" cy="6381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167" b="1" i="0">
                <a:solidFill>
                  <a:srgbClr val="B8860B"/>
                </a:solidFill>
                <a:latin typeface="Poppins"/>
              </a:rPr>
              <a:t>Fabric Ontology and Data Agents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188" y="939081"/>
            <a:ext cx="10587070" cy="5429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24" b="0" i="0">
                <a:solidFill>
                  <a:srgbClr val="5A5651"/>
                </a:solidFill>
                <a:latin typeface="Open Sans"/>
              </a:rPr>
              <a:t>The Fabric Ontology provides a unified semantic layer for the UBI domain, while two distinct Data Agents deliver natural language Q&amp;A — one grounded in the data model, the other in domain semantics.</a:t>
            </a:r>
            <a:r>
              <a:rPr sz="1139" b="0" i="0">
                <a:solidFill>
                  <a:srgbClr val="B8860B"/>
                </a:solidFill>
                <a:latin typeface="Open Sans"/>
              </a:rPr>
              <a:t> </a:t>
            </a:r>
            <a:r>
              <a:rPr sz="1139" b="0" i="0">
                <a:solidFill>
                  <a:srgbClr val="B8860B"/>
                </a:solidFill>
                <a:latin typeface="Open Sans"/>
                <a:hlinkClick r:id="rId13" tooltip="README.md"/>
              </a:rPr>
              <a:t>[1]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7065" y="1826670"/>
            <a:ext cx="4292393" cy="27621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71" b="1" i="0">
                <a:solidFill>
                  <a:srgbClr val="A37400"/>
                </a:solidFill>
                <a:latin typeface="Poppins"/>
              </a:rPr>
              <a:t>Fabric Ontology (ont_UBI_definition.json)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782" y="2185039"/>
            <a:ext cx="9482942" cy="21906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96" b="0" i="0">
                <a:solidFill>
                  <a:srgbClr val="5A5651"/>
                </a:solidFill>
                <a:latin typeface="Open Sans"/>
              </a:rPr>
              <a:t>Defines entity types with properties, data bindings to Gold tables, and relationships. Import via FabricIQ Export/Import Package.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8875" y="2585972"/>
            <a:ext cx="878956" cy="2000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36" b="0" i="0">
                <a:solidFill>
                  <a:srgbClr val="5A5651"/>
                </a:solidFill>
                <a:latin typeface="Poppins"/>
              </a:rPr>
              <a:t>Policyholder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41156" y="2585972"/>
            <a:ext cx="416857" cy="2000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36" b="0" i="0">
                <a:solidFill>
                  <a:srgbClr val="5A5651"/>
                </a:solidFill>
                <a:latin typeface="Poppins"/>
              </a:rPr>
              <a:t>Policy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45264" y="2585972"/>
            <a:ext cx="528773" cy="2000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36" b="0" i="0">
                <a:solidFill>
                  <a:srgbClr val="5A5651"/>
                </a:solidFill>
                <a:latin typeface="Poppins"/>
              </a:rPr>
              <a:t>Vehicle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28845" y="2585972"/>
            <a:ext cx="429656" cy="2000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36" b="0" i="0">
                <a:solidFill>
                  <a:srgbClr val="5A5651"/>
                </a:solidFill>
                <a:latin typeface="Poppins"/>
              </a:rPr>
              <a:t>Claim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78047" y="2585972"/>
            <a:ext cx="641433" cy="2000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36" b="0" i="0">
                <a:solidFill>
                  <a:srgbClr val="5A5651"/>
                </a:solidFill>
                <a:latin typeface="Poppins"/>
              </a:rPr>
              <a:t>Accident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90509" y="2585972"/>
            <a:ext cx="595595" cy="2000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36" b="0" i="0">
                <a:solidFill>
                  <a:srgbClr val="5A5651"/>
                </a:solidFill>
                <a:latin typeface="Poppins"/>
              </a:rPr>
              <a:t>Adjuster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7642" y="3273541"/>
            <a:ext cx="1073023" cy="22859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60" b="1" i="0">
                <a:solidFill>
                  <a:srgbClr val="A37400"/>
                </a:solidFill>
                <a:latin typeface="Poppins"/>
              </a:rPr>
              <a:t>Data Agent 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7642" y="3481746"/>
            <a:ext cx="1367696" cy="1904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49" b="1" i="0">
                <a:solidFill>
                  <a:srgbClr val="B8860B"/>
                </a:solidFill>
                <a:latin typeface="Poppins"/>
              </a:rPr>
              <a:t>On Semantic Model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5273" y="3741594"/>
            <a:ext cx="4697642" cy="4430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96" b="0" i="0">
                <a:solidFill>
                  <a:srgbClr val="5A5651"/>
                </a:solidFill>
                <a:latin typeface="Open Sans"/>
              </a:rPr>
              <a:t>Queries Gold tables and Eventhouse KQL tables for operational analytics and data-grounded answers.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2341" y="5584486"/>
            <a:ext cx="1069303" cy="16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43" b="1" i="0">
                <a:solidFill>
                  <a:srgbClr val="8A8580"/>
                </a:solidFill>
                <a:latin typeface="Poppins"/>
              </a:rPr>
              <a:t>Example Query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2341" y="5786292"/>
            <a:ext cx="3683850" cy="1904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82" b="0" i="1">
                <a:solidFill>
                  <a:srgbClr val="B8860B"/>
                </a:solidFill>
                <a:latin typeface="Open Sans"/>
              </a:rPr>
              <a:t>"Which policies are underpriced relative to expected loss?"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42499" y="3273541"/>
            <a:ext cx="1105765" cy="22859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60" b="1" i="0">
                <a:solidFill>
                  <a:srgbClr val="A37400"/>
                </a:solidFill>
                <a:latin typeface="Poppins"/>
              </a:rPr>
              <a:t>Data Agent 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42499" y="3481746"/>
            <a:ext cx="1351920" cy="1904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49" b="1" i="0">
                <a:solidFill>
                  <a:srgbClr val="B8860B"/>
                </a:solidFill>
                <a:latin typeface="Poppins"/>
              </a:rPr>
              <a:t>On Fabric Ontology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70130" y="3741594"/>
            <a:ext cx="4467262" cy="4430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96" b="0" i="0">
                <a:solidFill>
                  <a:srgbClr val="5A5651"/>
                </a:solidFill>
                <a:latin typeface="Open Sans"/>
              </a:rPr>
              <a:t>Leverages ontology entity types, relationships, and semantic metadata for richer conceptual reasoning.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07198" y="5584486"/>
            <a:ext cx="1069303" cy="16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43" b="1" i="0">
                <a:solidFill>
                  <a:srgbClr val="8A8580"/>
                </a:solidFill>
                <a:latin typeface="Poppins"/>
              </a:rPr>
              <a:t>Example Query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07198" y="5786292"/>
            <a:ext cx="3029171" cy="1904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82" b="0" i="1">
                <a:solidFill>
                  <a:srgbClr val="B8860B"/>
                </a:solidFill>
                <a:latin typeface="Open Sans"/>
              </a:rPr>
              <a:t>"Explain this premium increase in plain English"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76358" y="6438738"/>
            <a:ext cx="3725372" cy="1904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82" b="0" i="0">
                <a:solidFill>
                  <a:srgbClr val="8A8580"/>
                </a:solidFill>
                <a:latin typeface="Open Sans"/>
              </a:rPr>
              <a:t>Managed Identity authentication — no API keys needed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65477" y="6438738"/>
            <a:ext cx="4770566" cy="1904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82" b="0" i="0">
                <a:solidFill>
                  <a:srgbClr val="8A8580"/>
                </a:solidFill>
                <a:latin typeface="Open Sans"/>
              </a:rPr>
              <a:t>Copilot adds AI explainability — explore the "why" behind the numbers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81000" y="1653331"/>
            <a:ext cx="3657600" cy="4602807"/>
          </a:xfrm>
          <a:prstGeom prst="roundRect">
            <a:avLst>
              <a:gd name="adj" fmla="val 3645"/>
            </a:avLst>
          </a:prstGeom>
          <a:solidFill>
            <a:srgbClr val="F5E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1381" y="1865662"/>
            <a:ext cx="173324" cy="198085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63760" y="2295376"/>
            <a:ext cx="3292078" cy="511968"/>
          </a:xfrm>
          <a:prstGeom prst="roundRect">
            <a:avLst>
              <a:gd name="adj" fmla="val 18604"/>
            </a:avLst>
          </a:prstGeom>
          <a:solidFill>
            <a:srgbClr val="FF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670321" y="2371576"/>
            <a:ext cx="251370" cy="251370"/>
          </a:xfrm>
          <a:prstGeom prst="ellipse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63760" y="2891135"/>
            <a:ext cx="3292078" cy="511968"/>
          </a:xfrm>
          <a:prstGeom prst="roundRect">
            <a:avLst>
              <a:gd name="adj" fmla="val 18604"/>
            </a:avLst>
          </a:prstGeom>
          <a:solidFill>
            <a:srgbClr val="FF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670321" y="2967335"/>
            <a:ext cx="251370" cy="251370"/>
          </a:xfrm>
          <a:prstGeom prst="ellipse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63760" y="3486894"/>
            <a:ext cx="3292078" cy="511968"/>
          </a:xfrm>
          <a:prstGeom prst="roundRect">
            <a:avLst>
              <a:gd name="adj" fmla="val 18604"/>
            </a:avLst>
          </a:prstGeom>
          <a:solidFill>
            <a:srgbClr val="FF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70321" y="3563094"/>
            <a:ext cx="251370" cy="251370"/>
          </a:xfrm>
          <a:prstGeom prst="ellipse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267200" y="1653331"/>
            <a:ext cx="3657600" cy="4602807"/>
          </a:xfrm>
          <a:prstGeom prst="roundRect">
            <a:avLst>
              <a:gd name="adj" fmla="val 3645"/>
            </a:avLst>
          </a:prstGeom>
          <a:solidFill>
            <a:srgbClr val="F5E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51158" y="1876125"/>
            <a:ext cx="224427" cy="17870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4449960" y="2295376"/>
            <a:ext cx="3292078" cy="511968"/>
          </a:xfrm>
          <a:prstGeom prst="roundRect">
            <a:avLst>
              <a:gd name="adj" fmla="val 18604"/>
            </a:avLst>
          </a:prstGeom>
          <a:solidFill>
            <a:srgbClr val="FF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556521" y="2371576"/>
            <a:ext cx="251370" cy="251370"/>
          </a:xfrm>
          <a:prstGeom prst="ellipse">
            <a:avLst/>
          </a:prstGeom>
          <a:solidFill>
            <a:srgbClr val="3B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449960" y="2891135"/>
            <a:ext cx="3292078" cy="511968"/>
          </a:xfrm>
          <a:prstGeom prst="roundRect">
            <a:avLst>
              <a:gd name="adj" fmla="val 18604"/>
            </a:avLst>
          </a:prstGeom>
          <a:solidFill>
            <a:srgbClr val="FF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556521" y="2967335"/>
            <a:ext cx="251370" cy="251370"/>
          </a:xfrm>
          <a:prstGeom prst="ellipse">
            <a:avLst/>
          </a:prstGeom>
          <a:solidFill>
            <a:srgbClr val="3B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449960" y="3486894"/>
            <a:ext cx="3292078" cy="650676"/>
          </a:xfrm>
          <a:prstGeom prst="roundRect">
            <a:avLst>
              <a:gd name="adj" fmla="val 14638"/>
            </a:avLst>
          </a:prstGeom>
          <a:solidFill>
            <a:srgbClr val="FF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556521" y="3563094"/>
            <a:ext cx="251370" cy="251370"/>
          </a:xfrm>
          <a:prstGeom prst="ellipse">
            <a:avLst/>
          </a:prstGeom>
          <a:solidFill>
            <a:srgbClr val="3B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153399" y="1653331"/>
            <a:ext cx="3657600" cy="4602807"/>
          </a:xfrm>
          <a:prstGeom prst="roundRect">
            <a:avLst>
              <a:gd name="adj" fmla="val 3645"/>
            </a:avLst>
          </a:prstGeom>
          <a:solidFill>
            <a:srgbClr val="F5E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51182" y="1865672"/>
            <a:ext cx="198095" cy="19810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8336160" y="2295376"/>
            <a:ext cx="3292078" cy="511968"/>
          </a:xfrm>
          <a:prstGeom prst="roundRect">
            <a:avLst>
              <a:gd name="adj" fmla="val 18604"/>
            </a:avLst>
          </a:prstGeom>
          <a:solidFill>
            <a:srgbClr val="FF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442721" y="2371576"/>
            <a:ext cx="251370" cy="251370"/>
          </a:xfrm>
          <a:prstGeom prst="ellipse">
            <a:avLst/>
          </a:prstGeom>
          <a:solidFill>
            <a:srgbClr val="C47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36160" y="2891135"/>
            <a:ext cx="3292078" cy="511968"/>
          </a:xfrm>
          <a:prstGeom prst="roundRect">
            <a:avLst>
              <a:gd name="adj" fmla="val 18604"/>
            </a:avLst>
          </a:prstGeom>
          <a:solidFill>
            <a:srgbClr val="FF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442721" y="2967335"/>
            <a:ext cx="251370" cy="251370"/>
          </a:xfrm>
          <a:prstGeom prst="ellipse">
            <a:avLst/>
          </a:prstGeom>
          <a:solidFill>
            <a:srgbClr val="C47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336160" y="3486894"/>
            <a:ext cx="3292078" cy="511968"/>
          </a:xfrm>
          <a:prstGeom prst="roundRect">
            <a:avLst>
              <a:gd name="adj" fmla="val 18604"/>
            </a:avLst>
          </a:prstGeom>
          <a:solidFill>
            <a:srgbClr val="FF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8442721" y="3563094"/>
            <a:ext cx="251370" cy="251370"/>
          </a:xfrm>
          <a:prstGeom prst="ellipse">
            <a:avLst/>
          </a:prstGeom>
          <a:solidFill>
            <a:srgbClr val="C47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80990" y="257168"/>
            <a:ext cx="5804598" cy="6381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167" b="1" i="0">
                <a:solidFill>
                  <a:srgbClr val="B8860B"/>
                </a:solidFill>
                <a:latin typeface="Poppins"/>
              </a:rPr>
              <a:t>Implementation Pipeline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0990" y="923753"/>
            <a:ext cx="10691396" cy="4383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24" b="0" i="0" dirty="0">
                <a:solidFill>
                  <a:srgbClr val="5A5651"/>
                </a:solidFill>
                <a:latin typeface="Open Sans"/>
              </a:rPr>
              <a:t>Nine sequential pre-work steps — from Lakehouse creation through notebook execution to Data Agent setup — deliver a fully configured environment ready for the </a:t>
            </a:r>
            <a:r>
              <a:rPr lang="en-US" sz="1424" b="0" i="0" dirty="0">
                <a:solidFill>
                  <a:srgbClr val="5A5651"/>
                </a:solidFill>
                <a:latin typeface="Open Sans"/>
              </a:rPr>
              <a:t>front-end</a:t>
            </a:r>
            <a:r>
              <a:rPr sz="1424" b="0" i="0" dirty="0">
                <a:solidFill>
                  <a:srgbClr val="5A5651"/>
                </a:solidFill>
                <a:latin typeface="Open Sans"/>
              </a:rPr>
              <a:t> application</a:t>
            </a:r>
            <a:endParaRPr sz="1139" b="0" i="0" dirty="0">
              <a:solidFill>
                <a:srgbClr val="B8860B"/>
              </a:solidFill>
              <a:latin typeface="Open Sans"/>
              <a:hlinkClick r:id="rId5" tooltip="README.md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83719" y="1826521"/>
            <a:ext cx="1704634" cy="27621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71" b="1" i="0">
                <a:solidFill>
                  <a:srgbClr val="B8860B"/>
                </a:solidFill>
                <a:latin typeface="Poppins"/>
              </a:rPr>
              <a:t>Data Foundation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1505" y="2401877"/>
            <a:ext cx="91440" cy="18097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96" b="1" i="0">
                <a:solidFill>
                  <a:srgbClr val="FFF8EE"/>
                </a:solidFill>
                <a:latin typeface="Poppins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3047" y="2352467"/>
            <a:ext cx="1412492" cy="21906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5" b="1" i="0">
                <a:solidFill>
                  <a:srgbClr val="A37400"/>
                </a:solidFill>
                <a:latin typeface="Poppins"/>
              </a:rPr>
              <a:t>Create Lakehouse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3047" y="2582847"/>
            <a:ext cx="2173729" cy="12266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97" b="0" i="0" dirty="0">
                <a:solidFill>
                  <a:srgbClr val="8A8580"/>
                </a:solidFill>
                <a:latin typeface="Open Sans"/>
              </a:rPr>
              <a:t>Create </a:t>
            </a:r>
            <a:r>
              <a:rPr lang="en-US" sz="797" dirty="0" err="1">
                <a:solidFill>
                  <a:srgbClr val="8A8580"/>
                </a:solidFill>
                <a:latin typeface="Open Sans"/>
              </a:rPr>
              <a:t>lakehouse</a:t>
            </a:r>
            <a:r>
              <a:rPr sz="797" b="0" i="0" dirty="0">
                <a:solidFill>
                  <a:srgbClr val="8A8580"/>
                </a:solidFill>
                <a:latin typeface="Open Sans"/>
              </a:rPr>
              <a:t>, upload 6 source CSVs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9004" y="2997621"/>
            <a:ext cx="91440" cy="18097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96" b="1" i="0">
                <a:solidFill>
                  <a:srgbClr val="FFF8EE"/>
                </a:solidFill>
                <a:latin typeface="Poppins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3047" y="2948211"/>
            <a:ext cx="1087757" cy="21906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5" b="1" i="0">
                <a:solidFill>
                  <a:srgbClr val="A37400"/>
                </a:solidFill>
                <a:latin typeface="Poppins"/>
              </a:rPr>
              <a:t>Create Tables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3047" y="3178591"/>
            <a:ext cx="2253350" cy="14287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97" b="0" i="0">
                <a:solidFill>
                  <a:srgbClr val="8A8580"/>
                </a:solidFill>
                <a:latin typeface="Open Sans"/>
              </a:rPr>
              <a:t>Run notebook to create base relational tables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6772" y="3593365"/>
            <a:ext cx="91440" cy="18097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96" b="1" i="0">
                <a:solidFill>
                  <a:srgbClr val="FFF8EE"/>
                </a:solidFill>
                <a:latin typeface="Poppins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3047" y="3543955"/>
            <a:ext cx="788769" cy="21906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5" b="1" i="0">
                <a:solidFill>
                  <a:srgbClr val="A37400"/>
                </a:solidFill>
                <a:latin typeface="Poppins"/>
              </a:rPr>
              <a:t>Load Data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3047" y="3774335"/>
            <a:ext cx="1755234" cy="14287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97" b="0" i="0">
                <a:solidFill>
                  <a:srgbClr val="8A8580"/>
                </a:solidFill>
                <a:latin typeface="Open Sans"/>
              </a:rPr>
              <a:t>Load CSV data into relational tables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69822" y="1826521"/>
            <a:ext cx="1124070" cy="27621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71" b="1" i="0">
                <a:solidFill>
                  <a:srgbClr val="3B7A6E"/>
                </a:solidFill>
                <a:latin typeface="Poppins"/>
              </a:rPr>
              <a:t>Processing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38261" y="2401877"/>
            <a:ext cx="91440" cy="18097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96" b="1" i="0">
                <a:solidFill>
                  <a:srgbClr val="FFF8EE"/>
                </a:solidFill>
                <a:latin typeface="Poppin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99150" y="2352467"/>
            <a:ext cx="1564888" cy="21906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5" b="1" i="0">
                <a:solidFill>
                  <a:srgbClr val="A37400"/>
                </a:solidFill>
                <a:latin typeface="Poppins"/>
              </a:rPr>
              <a:t>Generate Telemetry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99150" y="2582847"/>
            <a:ext cx="2679732" cy="14287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97" b="0" i="0">
                <a:solidFill>
                  <a:srgbClr val="8A8580"/>
                </a:solidFill>
                <a:latin typeface="Open Sans"/>
              </a:rPr>
              <a:t>Simulate trip-level data, stream to Eventhouse via KQL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39898" y="2997621"/>
            <a:ext cx="91440" cy="18097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96" b="1" i="0">
                <a:solidFill>
                  <a:srgbClr val="FFF8EE"/>
                </a:solidFill>
                <a:latin typeface="Poppins"/>
              </a:rP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99150" y="2948211"/>
            <a:ext cx="1481695" cy="21906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5" b="1" i="0">
                <a:solidFill>
                  <a:srgbClr val="A37400"/>
                </a:solidFill>
                <a:latin typeface="Poppins"/>
              </a:rPr>
              <a:t>Create Gold Tables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99150" y="3178591"/>
            <a:ext cx="1910905" cy="14287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97" b="0" i="0">
                <a:solidFill>
                  <a:srgbClr val="8A8580"/>
                </a:solidFill>
                <a:latin typeface="Open Sans"/>
              </a:rPr>
              <a:t>Build 7 Gold-layer Delta table schemas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40791" y="3593365"/>
            <a:ext cx="91440" cy="18097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96" b="1" i="0">
                <a:solidFill>
                  <a:srgbClr val="FFF8EE"/>
                </a:solidFill>
                <a:latin typeface="Poppins"/>
              </a:rPr>
              <a:t>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99150" y="3543955"/>
            <a:ext cx="1552982" cy="21906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5" b="1" i="0">
                <a:solidFill>
                  <a:srgbClr val="A37400"/>
                </a:solidFill>
                <a:latin typeface="Poppins"/>
              </a:rPr>
              <a:t>Score and Compute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99150" y="3774335"/>
            <a:ext cx="2125361" cy="2815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97" b="0" i="0">
                <a:solidFill>
                  <a:srgbClr val="8A8580"/>
                </a:solidFill>
                <a:latin typeface="Open Sans"/>
              </a:rPr>
              <a:t>Feature engineering, risk scoring, premium computation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55924" y="1826521"/>
            <a:ext cx="838923" cy="27621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71" b="1" i="0">
                <a:solidFill>
                  <a:srgbClr val="C4793A"/>
                </a:solidFill>
                <a:latin typeface="Poppins"/>
              </a:rPr>
              <a:t>Delivery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33442" y="2401877"/>
            <a:ext cx="91440" cy="18097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96" b="1" i="0">
                <a:solidFill>
                  <a:srgbClr val="FFF8EE"/>
                </a:solidFill>
                <a:latin typeface="Poppins"/>
              </a:rPr>
              <a:t>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85253" y="2352467"/>
            <a:ext cx="1217234" cy="21906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5" b="1" i="0">
                <a:solidFill>
                  <a:srgbClr val="A37400"/>
                </a:solidFill>
                <a:latin typeface="Poppins"/>
              </a:rPr>
              <a:t>Publish Reports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785253" y="2582847"/>
            <a:ext cx="2378958" cy="14287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97" b="0" i="0">
                <a:solidFill>
                  <a:srgbClr val="8A8580"/>
                </a:solidFill>
                <a:latin typeface="Open Sans"/>
              </a:rPr>
              <a:t>Power BI reports + blank report for Explore view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26149" y="2997621"/>
            <a:ext cx="91440" cy="18097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96" b="1" i="0">
                <a:solidFill>
                  <a:srgbClr val="FFF8EE"/>
                </a:solidFill>
                <a:latin typeface="Poppins"/>
              </a:rPr>
              <a:t>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785253" y="2948211"/>
            <a:ext cx="1289712" cy="21906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5" b="1" i="0">
                <a:solidFill>
                  <a:srgbClr val="A37400"/>
                </a:solidFill>
                <a:latin typeface="Poppins"/>
              </a:rPr>
              <a:t>Import Ontology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785253" y="3178591"/>
            <a:ext cx="1826968" cy="14287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97" b="0" i="0">
                <a:solidFill>
                  <a:srgbClr val="8A8580"/>
                </a:solidFill>
                <a:latin typeface="Open Sans"/>
              </a:rPr>
              <a:t>Fabric Ontology via FabricIQ package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528233" y="3593365"/>
            <a:ext cx="91440" cy="18097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96" b="1" i="0">
                <a:solidFill>
                  <a:srgbClr val="FFF8EE"/>
                </a:solidFill>
                <a:latin typeface="Poppins"/>
              </a:rPr>
              <a:t>9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785253" y="3543955"/>
            <a:ext cx="1538100" cy="21906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5" b="1" i="0">
                <a:solidFill>
                  <a:srgbClr val="A37400"/>
                </a:solidFill>
                <a:latin typeface="Poppins"/>
              </a:rPr>
              <a:t>Create Data Agents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785253" y="3774335"/>
            <a:ext cx="2078630" cy="14287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97" b="0" i="0">
                <a:solidFill>
                  <a:srgbClr val="8A8580"/>
                </a:solidFill>
                <a:latin typeface="Open Sans"/>
              </a:rPr>
              <a:t>2 agents — Semantic Model and Ontology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09" y="0"/>
            <a:ext cx="4571885" cy="68578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0990" y="342891"/>
            <a:ext cx="5153640" cy="5048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533" b="1" i="0">
                <a:solidFill>
                  <a:srgbClr val="B8860B"/>
                </a:solidFill>
                <a:latin typeface="Poppins"/>
              </a:rPr>
              <a:t>Deployment and App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990" y="951285"/>
            <a:ext cx="6361796" cy="52591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39" b="0" i="0" dirty="0">
                <a:solidFill>
                  <a:srgbClr val="5A5651"/>
                </a:solidFill>
                <a:latin typeface="Open Sans"/>
              </a:rPr>
              <a:t>Deploy to Azure App Service with a single PowerShell script -- Managed Identity eliminates API keys, and the </a:t>
            </a:r>
            <a:r>
              <a:rPr sz="1139" b="0" i="0" dirty="0" err="1">
                <a:solidFill>
                  <a:srgbClr val="5A5651"/>
                </a:solidFill>
                <a:latin typeface="Open Sans"/>
              </a:rPr>
              <a:t>Streamlit</a:t>
            </a:r>
            <a:r>
              <a:rPr sz="1139" b="0" i="0" dirty="0">
                <a:solidFill>
                  <a:srgbClr val="5A5651"/>
                </a:solidFill>
                <a:latin typeface="Open Sans"/>
              </a:rPr>
              <a:t> app serves all persona views over HTTPS with zero manual credential management</a:t>
            </a:r>
            <a:endParaRPr sz="1139" b="0" i="0" dirty="0">
              <a:solidFill>
                <a:srgbClr val="B8860B"/>
              </a:solidFill>
              <a:latin typeface="Open Sans"/>
              <a:hlinkClick r:id="rId3" tooltip="README.md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80990" y="6349235"/>
            <a:ext cx="5178940" cy="234309"/>
          </a:xfrm>
          <a:prstGeom prst="rect">
            <a:avLst/>
          </a:prstGeom>
          <a:noFill/>
        </p:spPr>
        <p:txBody>
          <a:bodyPr wrap="square" lIns="0" tIns="91437" rIns="0" bIns="0">
            <a:spAutoFit/>
          </a:bodyPr>
          <a:lstStyle/>
          <a:p>
            <a:pPr algn="l"/>
            <a:r>
              <a:rPr sz="797" b="0" i="0">
                <a:solidFill>
                  <a:srgbClr val="8A8580"/>
                </a:solidFill>
                <a:latin typeface="Open Sans"/>
              </a:rPr>
              <a:t>Prerequisites: Azure subscription, Fabric workspace (F2+ capacity), workspace identity enabled, Azure CLI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0990" y="1840809"/>
            <a:ext cx="6857828" cy="30678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419089" indent="-419089" algn="l">
              <a:lnSpc>
                <a:spcPts val="1348"/>
              </a:lnSpc>
              <a:spcBef>
                <a:spcPts val="0"/>
              </a:spcBef>
              <a:spcAft>
                <a:spcPts val="0"/>
              </a:spcAft>
              <a:buSzPct val="100000"/>
              <a:buBlip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sz="1002" b="1" i="0">
                <a:solidFill>
                  <a:srgbClr val="A37400"/>
                </a:solidFill>
                <a:latin typeface="Poppins"/>
              </a:rPr>
              <a:t>Azure App Service</a:t>
            </a:r>
            <a:r>
              <a:rPr sz="1002" b="0" i="0">
                <a:solidFill>
                  <a:srgbClr val="5A5651"/>
                </a:solidFill>
                <a:latin typeface="Open Sans"/>
              </a:rPr>
              <a:t>Linux, Python 3.11+ with system-assigned Managed Identity -- no API keys or client secrets needed</a:t>
            </a:r>
          </a:p>
          <a:p>
            <a:pPr marL="419089" indent="-419089" algn="l">
              <a:lnSpc>
                <a:spcPts val="1348"/>
              </a:lnSpc>
              <a:spcBef>
                <a:spcPts val="1019"/>
              </a:spcBef>
              <a:spcAft>
                <a:spcPts val="0"/>
              </a:spcAft>
              <a:buSzPct val="100000"/>
              <a:buBlip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</a:pPr>
            <a:r>
              <a:rPr sz="1002" b="1" i="0">
                <a:solidFill>
                  <a:srgbClr val="A37400"/>
                </a:solidFill>
                <a:latin typeface="Poppins"/>
              </a:rPr>
              <a:t>One-Script Deploy</a:t>
            </a:r>
            <a:r>
              <a:rPr sz="953" b="0" i="0">
                <a:solidFill>
                  <a:srgbClr val="A37400"/>
                </a:solidFill>
                <a:latin typeface="Courier New"/>
              </a:rPr>
              <a:t>deploy.ps1</a:t>
            </a:r>
            <a:r>
              <a:rPr sz="1002" b="0" i="0">
                <a:solidFill>
                  <a:srgbClr val="5A5651"/>
                </a:solidFill>
                <a:latin typeface="Open Sans"/>
              </a:rPr>
              <a:t> creates resource group, App Service Plan, Web App, enables MI, sets app settings, and zip-deploys code</a:t>
            </a:r>
          </a:p>
          <a:p>
            <a:pPr marL="419089" indent="-419089" algn="l">
              <a:lnSpc>
                <a:spcPts val="1348"/>
              </a:lnSpc>
              <a:spcBef>
                <a:spcPts val="1019"/>
              </a:spcBef>
              <a:spcAft>
                <a:spcPts val="0"/>
              </a:spcAft>
              <a:buSzPct val="100000"/>
              <a:buBlip>
                <a:blip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</a:buBlip>
            </a:pPr>
            <a:r>
              <a:rPr sz="1002" b="1" i="0">
                <a:solidFill>
                  <a:srgbClr val="A37400"/>
                </a:solidFill>
                <a:latin typeface="Poppins"/>
              </a:rPr>
              <a:t>Key App Settings</a:t>
            </a:r>
            <a:r>
              <a:rPr sz="953" b="0" i="0">
                <a:solidFill>
                  <a:srgbClr val="A37400"/>
                </a:solidFill>
                <a:latin typeface="Courier New"/>
              </a:rPr>
              <a:t>FABRIC_WORKSPACE_ID</a:t>
            </a:r>
            <a:r>
              <a:rPr sz="1002" b="0" i="0">
                <a:solidFill>
                  <a:srgbClr val="5A5651"/>
                </a:solidFill>
                <a:latin typeface="Open Sans"/>
              </a:rPr>
              <a:t>, </a:t>
            </a:r>
            <a:r>
              <a:rPr sz="953" b="0" i="0">
                <a:solidFill>
                  <a:srgbClr val="A37400"/>
                </a:solidFill>
                <a:latin typeface="Courier New"/>
              </a:rPr>
              <a:t>AZURE_TENANT_ID</a:t>
            </a:r>
            <a:r>
              <a:rPr sz="1002" b="0" i="0">
                <a:solidFill>
                  <a:srgbClr val="5A5651"/>
                </a:solidFill>
                <a:latin typeface="Open Sans"/>
              </a:rPr>
              <a:t>, Power BI report IDs, and Data Agent endpoints</a:t>
            </a:r>
          </a:p>
          <a:p>
            <a:pPr marL="419089" indent="-419089" algn="l">
              <a:lnSpc>
                <a:spcPts val="1348"/>
              </a:lnSpc>
              <a:spcBef>
                <a:spcPts val="1019"/>
              </a:spcBef>
              <a:spcAft>
                <a:spcPts val="0"/>
              </a:spcAft>
              <a:buSzPct val="100000"/>
              <a:buBlip>
                <a:blip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</a:buBlip>
            </a:pPr>
            <a:r>
              <a:rPr sz="1002" b="1" i="0">
                <a:solidFill>
                  <a:srgbClr val="A37400"/>
                </a:solidFill>
                <a:latin typeface="Poppins"/>
              </a:rPr>
              <a:t>Access Control</a:t>
            </a:r>
            <a:r>
              <a:rPr sz="1002" b="0" i="0">
                <a:solidFill>
                  <a:srgbClr val="5A5651"/>
                </a:solidFill>
                <a:latin typeface="Open Sans"/>
              </a:rPr>
              <a:t>MI needs Member access on Power BI workspace; enable "Service principals can use Power BI APIs" in Admin Portal</a:t>
            </a:r>
          </a:p>
          <a:p>
            <a:pPr marL="419089" indent="-419089" algn="l">
              <a:lnSpc>
                <a:spcPts val="1348"/>
              </a:lnSpc>
              <a:spcBef>
                <a:spcPts val="1019"/>
              </a:spcBef>
              <a:spcAft>
                <a:spcPts val="0"/>
              </a:spcAft>
              <a:buSzPct val="100000"/>
              <a:buBlip>
                <a:blip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</a:buBlip>
            </a:pPr>
            <a:r>
              <a:rPr sz="1002" b="1" i="0">
                <a:solidFill>
                  <a:srgbClr val="A37400"/>
                </a:solidFill>
                <a:latin typeface="Poppins"/>
              </a:rPr>
              <a:t>Live Endpoint</a:t>
            </a:r>
            <a:r>
              <a:rPr sz="1002" b="0" i="0">
                <a:solidFill>
                  <a:srgbClr val="5A5651"/>
                </a:solidFill>
                <a:latin typeface="Open Sans"/>
              </a:rPr>
              <a:t>Streamlit on port 8000, Azure proxies to HTTPS on port 443 -- available at your custom .azurewebsites.net domain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81000" y="2263526"/>
            <a:ext cx="4227611" cy="684162"/>
          </a:xfrm>
          <a:prstGeom prst="roundRect">
            <a:avLst>
              <a:gd name="adj" fmla="val 1949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0535" y="2491171"/>
            <a:ext cx="228594" cy="228594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381000" y="3459956"/>
            <a:ext cx="4227611" cy="430410"/>
          </a:xfrm>
          <a:prstGeom prst="roundRect">
            <a:avLst>
              <a:gd name="adj" fmla="val 30982"/>
            </a:avLst>
          </a:prstGeom>
          <a:solidFill>
            <a:srgbClr val="F5E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7678" y="3579822"/>
            <a:ext cx="214307" cy="190523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81000" y="3951237"/>
            <a:ext cx="4227611" cy="430410"/>
          </a:xfrm>
          <a:prstGeom prst="roundRect">
            <a:avLst>
              <a:gd name="adj" fmla="val 30982"/>
            </a:avLst>
          </a:prstGeom>
          <a:solidFill>
            <a:srgbClr val="F5E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584" y="4071091"/>
            <a:ext cx="190495" cy="19049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81000" y="4442519"/>
            <a:ext cx="4227611" cy="430410"/>
          </a:xfrm>
          <a:prstGeom prst="roundRect">
            <a:avLst>
              <a:gd name="adj" fmla="val 30982"/>
            </a:avLst>
          </a:prstGeom>
          <a:solidFill>
            <a:srgbClr val="F5E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584" y="4562360"/>
            <a:ext cx="190495" cy="17858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381000" y="4933801"/>
            <a:ext cx="4227611" cy="430410"/>
          </a:xfrm>
          <a:prstGeom prst="roundRect">
            <a:avLst>
              <a:gd name="adj" fmla="val 30982"/>
            </a:avLst>
          </a:prstGeom>
          <a:solidFill>
            <a:srgbClr val="F5E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1490" y="5053630"/>
            <a:ext cx="166683" cy="19049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13296" y="2187974"/>
            <a:ext cx="188403" cy="146558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13264" y="3943565"/>
            <a:ext cx="167596" cy="167559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381000" y="5759350"/>
            <a:ext cx="11430000" cy="655141"/>
          </a:xfrm>
          <a:prstGeom prst="roundRect">
            <a:avLst>
              <a:gd name="adj" fmla="val 20354"/>
            </a:avLst>
          </a:prstGeom>
          <a:solidFill>
            <a:srgbClr val="F5E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77438" y="5991521"/>
            <a:ext cx="130965" cy="19049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80990" y="257168"/>
            <a:ext cx="4219469" cy="6381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167" b="1" i="0">
                <a:solidFill>
                  <a:srgbClr val="B8860B"/>
                </a:solidFill>
                <a:latin typeface="Poppins"/>
              </a:rPr>
              <a:t>What Comes Next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0990" y="923753"/>
            <a:ext cx="11016131" cy="5429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24" b="0" i="0">
                <a:solidFill>
                  <a:srgbClr val="5A5651"/>
                </a:solidFill>
                <a:latin typeface="Open Sans"/>
              </a:rPr>
              <a:t>With Pricing/Actuarial live, the roadmap extends to four additional personas — each unlocking new insurance workflows and expanding UBI value across the organization.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0990" y="1928317"/>
            <a:ext cx="1221997" cy="21906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5" b="1" i="0">
                <a:solidFill>
                  <a:srgbClr val="A37400"/>
                </a:solidFill>
                <a:latin typeface="Poppins"/>
              </a:rPr>
              <a:t>Available Now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0575" y="2368242"/>
            <a:ext cx="1837237" cy="27621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71" b="1" i="0">
                <a:solidFill>
                  <a:srgbClr val="FFF8EE"/>
                </a:solidFill>
                <a:latin typeface="Poppins"/>
              </a:rPr>
              <a:t>Pricing / Actuarial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0575" y="2625708"/>
            <a:ext cx="1391805" cy="2095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39" b="0" i="0">
                <a:solidFill>
                  <a:srgbClr val="FFEDC8"/>
                </a:solidFill>
                <a:latin typeface="Open Sans"/>
              </a:rPr>
              <a:t>All four views active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0990" y="3124717"/>
            <a:ext cx="1132553" cy="21906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5" b="1" i="0">
                <a:solidFill>
                  <a:srgbClr val="A37400"/>
                </a:solidFill>
                <a:latin typeface="Poppins"/>
              </a:rPr>
              <a:t>Coming Soon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0575" y="3541723"/>
            <a:ext cx="1284949" cy="2666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19" b="1" i="0">
                <a:solidFill>
                  <a:srgbClr val="A37400"/>
                </a:solidFill>
                <a:latin typeface="Poppins"/>
              </a:rPr>
              <a:t>Underwriting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0575" y="4032992"/>
            <a:ext cx="1514288" cy="2666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19" b="1" i="0">
                <a:solidFill>
                  <a:srgbClr val="A37400"/>
                </a:solidFill>
                <a:latin typeface="Poppins"/>
              </a:rPr>
              <a:t>Agent / Advisor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0575" y="4524261"/>
            <a:ext cx="1753449" cy="2666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19" b="1" i="0">
                <a:solidFill>
                  <a:srgbClr val="A37400"/>
                </a:solidFill>
                <a:latin typeface="Poppins"/>
              </a:rPr>
              <a:t>Portfolio Manager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0575" y="5015531"/>
            <a:ext cx="1963142" cy="2666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19" b="1" i="0">
                <a:solidFill>
                  <a:srgbClr val="A37400"/>
                </a:solidFill>
                <a:latin typeface="Poppins"/>
              </a:rPr>
              <a:t>Executive / Strategy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77898" y="2122980"/>
            <a:ext cx="2759204" cy="27621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71" b="1" i="0">
                <a:solidFill>
                  <a:srgbClr val="A37400"/>
                </a:solidFill>
                <a:latin typeface="Poppins"/>
              </a:rPr>
              <a:t>For Implementation Teams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57063" y="3889079"/>
            <a:ext cx="2785099" cy="27621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71" b="1" i="0">
                <a:solidFill>
                  <a:srgbClr val="A37400"/>
                </a:solidFill>
                <a:latin typeface="Poppins"/>
              </a:rPr>
              <a:t>For Insurance Stakeholders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654" y="5873503"/>
            <a:ext cx="10570997" cy="4228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39" b="0" i="0">
                <a:solidFill>
                  <a:srgbClr val="5A5651"/>
                </a:solidFill>
                <a:latin typeface="Open Sans"/>
              </a:rPr>
              <a:t>This Fabric accelerator transforms UBI from a data challenge into an actionable pricing intelligence platform — bridging telematics data and premium decisions.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72426" y="6481005"/>
            <a:ext cx="338277" cy="14287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797" b="0" i="0">
                <a:solidFill>
                  <a:srgbClr val="8A8580"/>
                </a:solidFill>
                <a:latin typeface="Open Sans"/>
              </a:rPr>
              <a:t>11 / 12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13288" y="2450840"/>
            <a:ext cx="6897415" cy="12572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29477" indent="-129477" algn="l">
              <a:lnSpc>
                <a:spcPts val="2137"/>
              </a:lnSpc>
              <a:spcBef>
                <a:spcPts val="0"/>
              </a:spcBef>
              <a:spcAft>
                <a:spcPts val="0"/>
              </a:spcAft>
              <a:buClr>
                <a:srgbClr val="B28107"/>
              </a:buClr>
              <a:buSzPct val="100000"/>
              <a:buFont typeface="Open Sans" charset="0"/>
              <a:buChar char="●"/>
            </a:pPr>
            <a:r>
              <a:rPr sz="1424" b="0" i="0">
                <a:solidFill>
                  <a:srgbClr val="5A5651"/>
                </a:solidFill>
                <a:latin typeface="Open Sans"/>
              </a:rPr>
              <a:t>Complete the 9-step Fabric environment setup</a:t>
            </a:r>
          </a:p>
          <a:p>
            <a:pPr marL="129477" indent="-129477" algn="l">
              <a:lnSpc>
                <a:spcPts val="2137"/>
              </a:lnSpc>
              <a:spcBef>
                <a:spcPts val="299"/>
              </a:spcBef>
              <a:spcAft>
                <a:spcPts val="0"/>
              </a:spcAft>
              <a:buClr>
                <a:srgbClr val="B28107"/>
              </a:buClr>
              <a:buSzPct val="100000"/>
              <a:buFont typeface="Open Sans" charset="0"/>
              <a:buChar char="●"/>
            </a:pPr>
            <a:r>
              <a:rPr sz="1424" b="0" i="0">
                <a:solidFill>
                  <a:srgbClr val="5A5651"/>
                </a:solidFill>
                <a:latin typeface="Open Sans"/>
              </a:rPr>
              <a:t>Deploy Streamlit app via deploy.ps1 to Azure</a:t>
            </a:r>
          </a:p>
          <a:p>
            <a:pPr marL="129477" indent="-129477" algn="l">
              <a:lnSpc>
                <a:spcPts val="2137"/>
              </a:lnSpc>
              <a:spcBef>
                <a:spcPts val="299"/>
              </a:spcBef>
              <a:spcAft>
                <a:spcPts val="0"/>
              </a:spcAft>
              <a:buClr>
                <a:srgbClr val="B28107"/>
              </a:buClr>
              <a:buSzPct val="100000"/>
              <a:buFont typeface="Open Sans" charset="0"/>
              <a:buChar char="●"/>
            </a:pPr>
            <a:r>
              <a:rPr sz="1424" b="0" i="0">
                <a:solidFill>
                  <a:srgbClr val="5A5651"/>
                </a:solidFill>
                <a:latin typeface="Open Sans"/>
              </a:rPr>
              <a:t>Validate Pricing/Actuarial flows with actuarial teams</a:t>
            </a:r>
          </a:p>
          <a:p>
            <a:pPr marL="129477" indent="-129477" algn="l">
              <a:lnSpc>
                <a:spcPts val="2137"/>
              </a:lnSpc>
              <a:spcBef>
                <a:spcPts val="299"/>
              </a:spcBef>
              <a:spcAft>
                <a:spcPts val="0"/>
              </a:spcAft>
              <a:buClr>
                <a:srgbClr val="B28107"/>
              </a:buClr>
              <a:buSzPct val="100000"/>
              <a:buFont typeface="Open Sans" charset="0"/>
              <a:buChar char="●"/>
            </a:pPr>
            <a:r>
              <a:rPr sz="1424" b="0" i="0">
                <a:solidFill>
                  <a:srgbClr val="5A5651"/>
                </a:solidFill>
                <a:latin typeface="Open Sans"/>
              </a:rPr>
              <a:t>Prioritize next persona build based on business impact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13288" y="4216939"/>
            <a:ext cx="6897415" cy="93342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29477" indent="-129477" algn="l">
              <a:lnSpc>
                <a:spcPts val="2137"/>
              </a:lnSpc>
              <a:spcBef>
                <a:spcPts val="0"/>
              </a:spcBef>
              <a:spcAft>
                <a:spcPts val="0"/>
              </a:spcAft>
              <a:buClr>
                <a:srgbClr val="B28107"/>
              </a:buClr>
              <a:buSzPct val="100000"/>
              <a:buFont typeface="Open Sans" charset="0"/>
              <a:buChar char="●"/>
            </a:pPr>
            <a:r>
              <a:rPr sz="1424" b="0" i="0">
                <a:solidFill>
                  <a:srgbClr val="5A5651"/>
                </a:solidFill>
                <a:latin typeface="Open Sans"/>
              </a:rPr>
              <a:t>Engage actuarial teams for Dashboard validation</a:t>
            </a:r>
          </a:p>
          <a:p>
            <a:pPr marL="129477" indent="-129477" algn="l">
              <a:lnSpc>
                <a:spcPts val="2137"/>
              </a:lnSpc>
              <a:spcBef>
                <a:spcPts val="299"/>
              </a:spcBef>
              <a:spcAft>
                <a:spcPts val="0"/>
              </a:spcAft>
              <a:buClr>
                <a:srgbClr val="B28107"/>
              </a:buClr>
              <a:buSzPct val="100000"/>
              <a:buFont typeface="Open Sans" charset="0"/>
              <a:buChar char="●"/>
            </a:pPr>
            <a:r>
              <a:rPr sz="1424" b="0" i="0">
                <a:solidFill>
                  <a:srgbClr val="5A5651"/>
                </a:solidFill>
                <a:latin typeface="Open Sans"/>
              </a:rPr>
              <a:t>Identify underwriting use cases for next persona rollout</a:t>
            </a:r>
          </a:p>
          <a:p>
            <a:pPr marL="129477" indent="-129477" algn="l">
              <a:lnSpc>
                <a:spcPts val="2137"/>
              </a:lnSpc>
              <a:spcBef>
                <a:spcPts val="299"/>
              </a:spcBef>
              <a:spcAft>
                <a:spcPts val="0"/>
              </a:spcAft>
              <a:buClr>
                <a:srgbClr val="B28107"/>
              </a:buClr>
              <a:buSzPct val="100000"/>
              <a:buFont typeface="Open Sans" charset="0"/>
              <a:buChar char="●"/>
            </a:pPr>
            <a:r>
              <a:rPr sz="1424" b="0" i="0">
                <a:solidFill>
                  <a:srgbClr val="5A5651"/>
                </a:solidFill>
                <a:latin typeface="Open Sans"/>
              </a:rPr>
              <a:t>Evaluate Data Agent Q&amp;A for premium explainability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3386" y="457188"/>
            <a:ext cx="11124921" cy="54856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67" b="1" i="0">
                <a:solidFill>
                  <a:srgbClr val="B8860B"/>
                </a:solidFill>
                <a:latin typeface="Poppins"/>
              </a:rPr>
              <a:t>References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30488E-64C5-FB48-525F-5F28747051F8}"/>
              </a:ext>
            </a:extLst>
          </p:cNvPr>
          <p:cNvSpPr txBox="1"/>
          <p:nvPr/>
        </p:nvSpPr>
        <p:spPr>
          <a:xfrm>
            <a:off x="1062182" y="1219200"/>
            <a:ext cx="74445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Github</a:t>
            </a:r>
            <a:r>
              <a:rPr lang="en-US" dirty="0"/>
              <a:t> Repo link - </a:t>
            </a:r>
            <a:r>
              <a:rPr lang="en-US" dirty="0" err="1">
                <a:hlinkClick r:id="rId2"/>
              </a:rPr>
              <a:t>sagarbathe</a:t>
            </a:r>
            <a:r>
              <a:rPr lang="en-US" dirty="0">
                <a:hlinkClick r:id="rId2"/>
              </a:rPr>
              <a:t>/</a:t>
            </a:r>
            <a:r>
              <a:rPr lang="en-US" dirty="0" err="1">
                <a:hlinkClick r:id="rId2"/>
              </a:rPr>
              <a:t>UBIPricing_solution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19</TotalTime>
  <Words>1525</Words>
  <Application>Microsoft Office PowerPoint</Application>
  <PresentationFormat>Widescreen</PresentationFormat>
  <Paragraphs>220</Paragraphs>
  <Slides>12</Slides>
  <Notes>0</Notes>
  <HiddenSlides>2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Poppins</vt:lpstr>
      <vt:lpstr>Calibri Light</vt:lpstr>
      <vt:lpstr>Courier New</vt:lpstr>
      <vt:lpstr>Open Sans</vt:lpstr>
      <vt:lpstr>Calibri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Sagar Bathe</dc:creator>
  <cp:keywords/>
  <dc:description>generated using python-pptx</dc:description>
  <cp:lastModifiedBy>Sagar Bathe</cp:lastModifiedBy>
  <cp:revision>5</cp:revision>
  <dcterms:created xsi:type="dcterms:W3CDTF">2026-03-18T20:25:10Z</dcterms:created>
  <dcterms:modified xsi:type="dcterms:W3CDTF">2026-03-18T21:12:00Z</dcterms:modified>
  <cp:category/>
</cp:coreProperties>
</file>